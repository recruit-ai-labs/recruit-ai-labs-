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44" y="-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5000" contrast="13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cruit-ai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484632" cy="484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07008" y="6126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RECRUIT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417320" cy="31089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214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9562" y="1516958"/>
            <a:ext cx="127101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chemeClr val="bg1"/>
                </a:solidFill>
                <a:latin typeface="Aptos"/>
              </a:rPr>
              <a:t>SEED DECK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27248"/>
            <a:ext cx="7498079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Turn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j</a:t>
            </a:r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ob briefs &amp; resumes into </a:t>
            </a:r>
            <a:r>
              <a:rPr lang="en-US" sz="3600" b="1" dirty="0">
                <a:solidFill>
                  <a:srgbClr val="FFFFFF"/>
                </a:solidFill>
                <a:latin typeface="Space Grotesk"/>
              </a:rPr>
              <a:t>v</a:t>
            </a:r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erified shortlists </a:t>
            </a:r>
            <a:r>
              <a:rPr lang="en-IN" sz="3600" b="1" i="0" u="none" dirty="0">
                <a:solidFill>
                  <a:srgbClr val="FFFFFF"/>
                </a:solidFill>
                <a:latin typeface="Space Grotesk"/>
              </a:rPr>
              <a:t>—</a:t>
            </a:r>
            <a:r>
              <a:rPr lang="en-US" sz="3600" b="1" i="0" u="none" dirty="0">
                <a:solidFill>
                  <a:srgbClr val="FFFFFF"/>
                </a:solidFill>
                <a:latin typeface="Space Grotesk"/>
              </a:rPr>
              <a:t> </a:t>
            </a:r>
            <a:r>
              <a:rPr lang="en-IN" sz="3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pace Grotesk"/>
              </a:rPr>
              <a:t>w</a:t>
            </a:r>
            <a:r>
              <a:rPr lang="en-IN" sz="3400" b="1" i="0" u="none" dirty="0">
                <a:solidFill>
                  <a:schemeClr val="accent6">
                    <a:lumMod val="60000"/>
                    <a:lumOff val="40000"/>
                  </a:schemeClr>
                </a:solidFill>
                <a:latin typeface="Space Grotesk"/>
              </a:rPr>
              <a:t>ith AI Proof</a:t>
            </a:r>
            <a:r>
              <a:rPr sz="3400" b="1" i="0" dirty="0">
                <a:solidFill>
                  <a:srgbClr val="78D4C6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370832"/>
            <a:ext cx="66751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7D8D6"/>
                </a:solidFill>
                <a:latin typeface="Aptos"/>
              </a:rPr>
              <a:t>Turn a job description and resume stack into a reviewable shortlist — with the evidence behind every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944368"/>
            <a:ext cx="2971800" cy="2606040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0" y="3273552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chemeClr val="bg1"/>
                </a:solidFill>
                <a:latin typeface="Aptos"/>
              </a:rPr>
              <a:t>THE WEDGE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730752"/>
            <a:ext cx="594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JD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2056" y="3730752"/>
            <a:ext cx="320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chemeClr val="bg1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3730752"/>
            <a:ext cx="1097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4279392"/>
            <a:ext cx="2331720" cy="0"/>
          </a:xfrm>
          <a:prstGeom prst="line">
            <a:avLst/>
          </a:prstGeom>
          <a:ln w="1524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69680" y="4553712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Aptos"/>
              </a:rPr>
              <a:t>A shared rubric. Inspectable quotes. Human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2636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FA7A4"/>
                </a:solidFill>
                <a:latin typeface="Aptos"/>
              </a:rPr>
              <a:t>Raipur, India  •  hello@recruitai.com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Hiring teams don’t need more profiles.
They need decisions they can defend.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Agency FB" panose="020B0503020202020204" pitchFamily="34" charset="0"/>
              </a:rPr>
              <a:t>The workflow breaks between the job brief, the resume stack and the final shortlist.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2664" y="2317251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39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2B38"/>
                </a:solidFill>
                <a:latin typeface="Agency FB" panose="020B0503020202020204" pitchFamily="34" charset="0"/>
              </a:rPr>
              <a:t>Requirements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38728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607380"/>
                </a:solidFill>
                <a:latin typeface="Agency FB" panose="020B0503020202020204" pitchFamily="34" charset="0"/>
              </a:rPr>
              <a:t>Recruiters and clients interpret the same JD differently. Every reviewer creates a new, invisible rubric.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9512" y="2317251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53712" y="2624328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063239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2B38"/>
                </a:solidFill>
                <a:latin typeface="Agency FB" panose="020B0503020202020204" pitchFamily="34" charset="0"/>
              </a:rPr>
              <a:t>Evidence gets buried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538728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07380"/>
                </a:solidFill>
                <a:latin typeface="Agency FB" panose="020B0503020202020204" pitchFamily="34" charset="0"/>
              </a:rPr>
              <a:t>Keywords flatten context. The proof of delivery, scope and outcomes remains scattered across resumes and interviews.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2321243"/>
            <a:ext cx="3520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gency FB" panose="020B0503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4464" y="2624328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chemeClr val="tx2">
                    <a:lumMod val="75000"/>
                  </a:schemeClr>
                </a:solidFill>
                <a:latin typeface="Agency FB" panose="020B0503020202020204" pitchFamily="34" charset="0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3063239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42B38"/>
                </a:solidFill>
                <a:latin typeface="Agency FB" panose="020B0503020202020204" pitchFamily="34" charset="0"/>
              </a:rPr>
              <a:t>Decisions lose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538728"/>
            <a:ext cx="306324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07380"/>
                </a:solidFill>
                <a:latin typeface="Agency FB" panose="020B0503020202020204" pitchFamily="34" charset="0"/>
              </a:rPr>
              <a:t>Shortlists move through spreadsheets and chat. Gaps, rationale and client feedback disappear between stages.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806440"/>
            <a:ext cx="10881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Result: slow review</a:t>
            </a:r>
            <a:r>
              <a:rPr sz="1600" b="1" i="0" dirty="0">
                <a:solidFill>
                  <a:srgbClr val="142B38"/>
                </a:solidFill>
                <a:latin typeface="Agency FB" panose="020B0503020202020204" pitchFamily="34" charset="0"/>
              </a:rPr>
              <a:t>, </a:t>
            </a:r>
            <a:r>
              <a:rPr sz="1600" b="1" i="0" dirty="0">
                <a:solidFill>
                  <a:schemeClr val="bg1"/>
                </a:solidFill>
                <a:latin typeface="Agency FB" panose="020B0503020202020204" pitchFamily="34" charset="0"/>
              </a:rPr>
              <a:t>inconsistent shortlists and avoidable candidate waiting.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RECRUIT AI  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92240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8AA09E"/>
                </a:solidFill>
                <a:latin typeface="Agency FB" panose="020B0503020202020204" pitchFamily="34" charset="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1">
            <a:extLst>
              <a:ext uri="{FF2B5EF4-FFF2-40B4-BE49-F238E27FC236}">
                <a16:creationId xmlns:a16="http://schemas.microsoft.com/office/drawing/2014/main" id="{89AD4851-91D5-4A5E-A09E-2F4314DDDC6B}"/>
              </a:ext>
            </a:extLst>
          </p:cNvPr>
          <p:cNvSpPr/>
          <p:nvPr/>
        </p:nvSpPr>
        <p:spPr>
          <a:xfrm>
            <a:off x="609600" y="3095625"/>
            <a:ext cx="2619375" cy="1666875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2">
            <a:extLst>
              <a:ext uri="{FF2B5EF4-FFF2-40B4-BE49-F238E27FC236}">
                <a16:creationId xmlns:a16="http://schemas.microsoft.com/office/drawing/2014/main" id="{F74F3B01-025D-4B82-8CA2-B546799053FD}"/>
              </a:ext>
            </a:extLst>
          </p:cNvPr>
          <p:cNvSpPr/>
          <p:nvPr/>
        </p:nvSpPr>
        <p:spPr>
          <a:xfrm>
            <a:off x="3381375" y="3095625"/>
            <a:ext cx="2619375" cy="1666875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3">
            <a:extLst>
              <a:ext uri="{FF2B5EF4-FFF2-40B4-BE49-F238E27FC236}">
                <a16:creationId xmlns:a16="http://schemas.microsoft.com/office/drawing/2014/main" id="{63036A7A-6950-4790-A417-C299BCD5966B}"/>
              </a:ext>
            </a:extLst>
          </p:cNvPr>
          <p:cNvSpPr/>
          <p:nvPr/>
        </p:nvSpPr>
        <p:spPr>
          <a:xfrm>
            <a:off x="6153150" y="3076575"/>
            <a:ext cx="2657475" cy="1704975"/>
          </a:xfrm>
          <a:prstGeom prst="roundRect">
            <a:avLst>
              <a:gd name="adj" fmla="val 7821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D0A93662-733D-46DF-8C5D-06ABAC5DDEE3}"/>
              </a:ext>
            </a:extLst>
          </p:cNvPr>
          <p:cNvSpPr/>
          <p:nvPr/>
        </p:nvSpPr>
        <p:spPr>
          <a:xfrm>
            <a:off x="8963025" y="3095625"/>
            <a:ext cx="2619375" cy="1666875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1D55B3-CC72-472A-BE52-1AE3225B957E}"/>
              </a:ext>
            </a:extLst>
          </p:cNvPr>
          <p:cNvSpPr txBox="1"/>
          <p:nvPr/>
        </p:nvSpPr>
        <p:spPr>
          <a:xfrm>
            <a:off x="609600" y="752475"/>
            <a:ext cx="7459030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accent6">
                    <a:lumMod val="40000"/>
                    <a:lumOff val="60000"/>
                  </a:schemeClr>
                </a:solidFill>
                <a:latin typeface="Space Grotesk"/>
              </a:rPr>
              <a:t>One Role. One Shared Rubric. Multimodal Evidence.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83B64E-34D7-468E-8F82-CB57F65BB535}"/>
              </a:ext>
            </a:extLst>
          </p:cNvPr>
          <p:cNvSpPr txBox="1"/>
          <p:nvPr/>
        </p:nvSpPr>
        <p:spPr>
          <a:xfrm>
            <a:off x="1566862" y="33242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85EA86E-F29E-4E5D-80FF-94B4DA370BF4}"/>
              </a:ext>
            </a:extLst>
          </p:cNvPr>
          <p:cNvSpPr txBox="1"/>
          <p:nvPr/>
        </p:nvSpPr>
        <p:spPr>
          <a:xfrm>
            <a:off x="500360" y="389572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JD Parsing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8B60C7-29F8-4B93-B0C5-1D02C0C6BB8B}"/>
              </a:ext>
            </a:extLst>
          </p:cNvPr>
          <p:cNvSpPr txBox="1"/>
          <p:nvPr/>
        </p:nvSpPr>
        <p:spPr>
          <a:xfrm>
            <a:off x="567928" y="4171950"/>
            <a:ext cx="27027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Convert JDs into standardized evaluation rubrics.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6FBEA9-46FF-4A81-B0AD-7C516A4784F6}"/>
              </a:ext>
            </a:extLst>
          </p:cNvPr>
          <p:cNvSpPr txBox="1"/>
          <p:nvPr/>
        </p:nvSpPr>
        <p:spPr>
          <a:xfrm>
            <a:off x="4338637" y="33242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3A02B8F-1EA4-46C1-A17C-42667D1693C0}"/>
              </a:ext>
            </a:extLst>
          </p:cNvPr>
          <p:cNvSpPr txBox="1"/>
          <p:nvPr/>
        </p:nvSpPr>
        <p:spPr>
          <a:xfrm>
            <a:off x="3272135" y="389572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Resume Vetting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1ACEE3-71CB-4A9D-BB6B-E3B339FF372D}"/>
              </a:ext>
            </a:extLst>
          </p:cNvPr>
          <p:cNvSpPr txBox="1"/>
          <p:nvPr/>
        </p:nvSpPr>
        <p:spPr>
          <a:xfrm>
            <a:off x="3339703" y="4171950"/>
            <a:ext cx="27027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Extract claim quotes and detect skill gap areas.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160825-00BD-467D-B825-7F37D687C3FA}"/>
              </a:ext>
            </a:extLst>
          </p:cNvPr>
          <p:cNvSpPr txBox="1"/>
          <p:nvPr/>
        </p:nvSpPr>
        <p:spPr>
          <a:xfrm>
            <a:off x="7129462" y="33242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81531F-9D36-4DAA-935A-9B88A77A4C1D}"/>
              </a:ext>
            </a:extLst>
          </p:cNvPr>
          <p:cNvSpPr txBox="1"/>
          <p:nvPr/>
        </p:nvSpPr>
        <p:spPr>
          <a:xfrm>
            <a:off x="6062960" y="389572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40AF"/>
                </a:solidFill>
                <a:latin typeface="Inter"/>
              </a:rPr>
              <a:t>Autonomous AI Interview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0297BA-3DD6-41DC-9775-5B67C9CC7F2F}"/>
              </a:ext>
            </a:extLst>
          </p:cNvPr>
          <p:cNvSpPr txBox="1"/>
          <p:nvPr/>
        </p:nvSpPr>
        <p:spPr>
          <a:xfrm>
            <a:off x="6130528" y="4171950"/>
            <a:ext cx="27027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1E3A8A"/>
                </a:solidFill>
                <a:latin typeface="Inter"/>
              </a:rPr>
              <a:t>Real-time voice/video dynamic Q&amp;A + affective scoring.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EFD9B2-B805-48DE-A260-34C252589462}"/>
              </a:ext>
            </a:extLst>
          </p:cNvPr>
          <p:cNvSpPr txBox="1"/>
          <p:nvPr/>
        </p:nvSpPr>
        <p:spPr>
          <a:xfrm>
            <a:off x="9920287" y="33242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39928A-ABD4-493A-A6BA-0810AEA5AB89}"/>
              </a:ext>
            </a:extLst>
          </p:cNvPr>
          <p:cNvSpPr txBox="1"/>
          <p:nvPr/>
        </p:nvSpPr>
        <p:spPr>
          <a:xfrm>
            <a:off x="8853785" y="3895725"/>
            <a:ext cx="283785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Decision Room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F6B0C0-D802-4849-AA08-3F8C8EACB651}"/>
              </a:ext>
            </a:extLst>
          </p:cNvPr>
          <p:cNvSpPr txBox="1"/>
          <p:nvPr/>
        </p:nvSpPr>
        <p:spPr>
          <a:xfrm>
            <a:off x="8921353" y="4171950"/>
            <a:ext cx="2702718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475569"/>
                </a:solidFill>
                <a:latin typeface="Inter"/>
              </a:rPr>
              <a:t>Human recruiters review verified evidence boards.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3BB5F7-B7D3-4A88-BF7B-68F2754AB2AA}"/>
              </a:ext>
            </a:extLst>
          </p:cNvPr>
          <p:cNvSpPr txBox="1"/>
          <p:nvPr/>
        </p:nvSpPr>
        <p:spPr>
          <a:xfrm>
            <a:off x="625928" y="533400"/>
            <a:ext cx="8319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chemeClr val="accent6">
                    <a:lumMod val="20000"/>
                    <a:lumOff val="80000"/>
                  </a:schemeClr>
                </a:solidFill>
                <a:latin typeface="Inter"/>
              </a:rPr>
              <a:t>THE SOLUTION</a:t>
            </a:r>
          </a:p>
        </p:txBody>
      </p:sp>
      <p:sp>
        <p:nvSpPr>
          <p:cNvPr id="69" name="Rounded Rectangle 5">
            <a:extLst>
              <a:ext uri="{FF2B5EF4-FFF2-40B4-BE49-F238E27FC236}">
                <a16:creationId xmlns:a16="http://schemas.microsoft.com/office/drawing/2014/main" id="{65341021-5C83-4F33-BAF6-F50AE8EF378B}"/>
              </a:ext>
            </a:extLst>
          </p:cNvPr>
          <p:cNvSpPr/>
          <p:nvPr/>
        </p:nvSpPr>
        <p:spPr>
          <a:xfrm>
            <a:off x="1709737" y="3324225"/>
            <a:ext cx="419100" cy="4191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A75B550-3A75-437D-9E6C-156E4BCEB269}"/>
              </a:ext>
            </a:extLst>
          </p:cNvPr>
          <p:cNvSpPr txBox="1"/>
          <p:nvPr/>
        </p:nvSpPr>
        <p:spPr>
          <a:xfrm>
            <a:off x="1578173" y="3317422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3" name="Rounded Rectangle 5">
            <a:extLst>
              <a:ext uri="{FF2B5EF4-FFF2-40B4-BE49-F238E27FC236}">
                <a16:creationId xmlns:a16="http://schemas.microsoft.com/office/drawing/2014/main" id="{4418D273-357E-4D35-A485-A2BB8E2A1D1E}"/>
              </a:ext>
            </a:extLst>
          </p:cNvPr>
          <p:cNvSpPr/>
          <p:nvPr/>
        </p:nvSpPr>
        <p:spPr>
          <a:xfrm>
            <a:off x="4491037" y="3320143"/>
            <a:ext cx="419100" cy="4191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" name="Rounded Rectangle 5">
            <a:extLst>
              <a:ext uri="{FF2B5EF4-FFF2-40B4-BE49-F238E27FC236}">
                <a16:creationId xmlns:a16="http://schemas.microsoft.com/office/drawing/2014/main" id="{ACC25020-D9D5-4383-9624-B32D978858FD}"/>
              </a:ext>
            </a:extLst>
          </p:cNvPr>
          <p:cNvSpPr/>
          <p:nvPr/>
        </p:nvSpPr>
        <p:spPr>
          <a:xfrm>
            <a:off x="7281862" y="3324225"/>
            <a:ext cx="419100" cy="4191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Rounded Rectangle 5">
            <a:extLst>
              <a:ext uri="{FF2B5EF4-FFF2-40B4-BE49-F238E27FC236}">
                <a16:creationId xmlns:a16="http://schemas.microsoft.com/office/drawing/2014/main" id="{A57E73C7-7781-4BB9-BD31-9A90031083E7}"/>
              </a:ext>
            </a:extLst>
          </p:cNvPr>
          <p:cNvSpPr/>
          <p:nvPr/>
        </p:nvSpPr>
        <p:spPr>
          <a:xfrm>
            <a:off x="9939337" y="3324225"/>
            <a:ext cx="419100" cy="4191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92DA81-597D-4506-9C9E-5BA2E469E67D}"/>
              </a:ext>
            </a:extLst>
          </p:cNvPr>
          <p:cNvSpPr txBox="1"/>
          <p:nvPr/>
        </p:nvSpPr>
        <p:spPr>
          <a:xfrm>
            <a:off x="4348162" y="3317422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26EDC7-38EA-404A-87F2-434059D8E420}"/>
              </a:ext>
            </a:extLst>
          </p:cNvPr>
          <p:cNvSpPr txBox="1"/>
          <p:nvPr/>
        </p:nvSpPr>
        <p:spPr>
          <a:xfrm>
            <a:off x="7129463" y="3307896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B65B100-3F04-49F7-BDA8-C3CACF8752E9}"/>
              </a:ext>
            </a:extLst>
          </p:cNvPr>
          <p:cNvSpPr txBox="1"/>
          <p:nvPr/>
        </p:nvSpPr>
        <p:spPr>
          <a:xfrm>
            <a:off x="9811048" y="332422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F41D26-0D2E-40D8-9C4C-3829C454C5A6}"/>
              </a:ext>
            </a:extLst>
          </p:cNvPr>
          <p:cNvSpPr txBox="1"/>
          <p:nvPr/>
        </p:nvSpPr>
        <p:spPr>
          <a:xfrm>
            <a:off x="376237" y="6369128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RECRUIT AI  /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8339A9-6476-430C-9A3D-E2495B38DD32}"/>
              </a:ext>
            </a:extLst>
          </p:cNvPr>
          <p:cNvSpPr txBox="1"/>
          <p:nvPr/>
        </p:nvSpPr>
        <p:spPr>
          <a:xfrm>
            <a:off x="11188719" y="6369129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0</a:t>
            </a:r>
            <a:r>
              <a:rPr lang="en-US"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3</a:t>
            </a:r>
            <a:endParaRPr sz="1600" b="1" i="0" dirty="0">
              <a:solidFill>
                <a:srgbClr val="8AA09E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">
            <a:extLst>
              <a:ext uri="{FF2B5EF4-FFF2-40B4-BE49-F238E27FC236}">
                <a16:creationId xmlns:a16="http://schemas.microsoft.com/office/drawing/2014/main" id="{DBFC17BC-C46D-49B3-AB7A-5648CBB9113F}"/>
              </a:ext>
            </a:extLst>
          </p:cNvPr>
          <p:cNvSpPr/>
          <p:nvPr/>
        </p:nvSpPr>
        <p:spPr>
          <a:xfrm>
            <a:off x="609600" y="2981325"/>
            <a:ext cx="3505200" cy="1857375"/>
          </a:xfrm>
          <a:prstGeom prst="roundRect">
            <a:avLst>
              <a:gd name="adj" fmla="val 71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54546432-FC9D-4132-B86C-67602E9939AC}"/>
              </a:ext>
            </a:extLst>
          </p:cNvPr>
          <p:cNvSpPr/>
          <p:nvPr/>
        </p:nvSpPr>
        <p:spPr>
          <a:xfrm>
            <a:off x="4343400" y="3071812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0F26DD62-1BC8-4EE3-9A74-5B31637261F5}"/>
              </a:ext>
            </a:extLst>
          </p:cNvPr>
          <p:cNvSpPr/>
          <p:nvPr/>
        </p:nvSpPr>
        <p:spPr>
          <a:xfrm>
            <a:off x="8077200" y="3071812"/>
            <a:ext cx="3505200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5A0E54BC-3E23-4C7E-A24F-4CBA6909F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257550"/>
            <a:ext cx="266700" cy="304800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E44BE3DA-C7AF-49BE-9D4E-76A7311FD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625" y="3348037"/>
            <a:ext cx="304800" cy="3048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321A0121-0043-46DC-84AF-144F1A38BF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425" y="3348037"/>
            <a:ext cx="276225" cy="304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9BB1A62-03C4-42D5-9930-F453AB57C534}"/>
              </a:ext>
            </a:extLst>
          </p:cNvPr>
          <p:cNvSpPr txBox="1"/>
          <p:nvPr/>
        </p:nvSpPr>
        <p:spPr>
          <a:xfrm>
            <a:off x="625929" y="533400"/>
            <a:ext cx="142827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chemeClr val="bg1"/>
                </a:solidFill>
                <a:latin typeface="Inter"/>
              </a:rPr>
              <a:t>PRODUCT ARCHITECTURE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C0B960-BAA6-483C-A534-A0321A3BADB5}"/>
              </a:ext>
            </a:extLst>
          </p:cNvPr>
          <p:cNvSpPr txBox="1"/>
          <p:nvPr/>
        </p:nvSpPr>
        <p:spPr>
          <a:xfrm>
            <a:off x="625929" y="752475"/>
            <a:ext cx="6708696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chemeClr val="accent6">
                    <a:lumMod val="40000"/>
                    <a:lumOff val="60000"/>
                  </a:schemeClr>
                </a:solidFill>
                <a:latin typeface="Space Grotesk"/>
              </a:rPr>
              <a:t>Engineered for High-Concurrency AI Evaluation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839B32-F695-4054-A9FF-E0C0519E42E3}"/>
              </a:ext>
            </a:extLst>
          </p:cNvPr>
          <p:cNvSpPr txBox="1"/>
          <p:nvPr/>
        </p:nvSpPr>
        <p:spPr>
          <a:xfrm>
            <a:off x="885825" y="3714750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Node.js / JS Pipeline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926112-9F56-4942-AD45-68A8181EA0B8}"/>
              </a:ext>
            </a:extLst>
          </p:cNvPr>
          <p:cNvSpPr txBox="1"/>
          <p:nvPr/>
        </p:nvSpPr>
        <p:spPr>
          <a:xfrm>
            <a:off x="885825" y="4019550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High-concurrency streaming backend for low-latency voice/video interview processing.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5D381-58A1-46C8-AE37-01C413D13A0C}"/>
              </a:ext>
            </a:extLst>
          </p:cNvPr>
          <p:cNvSpPr txBox="1"/>
          <p:nvPr/>
        </p:nvSpPr>
        <p:spPr>
          <a:xfrm>
            <a:off x="4619625" y="3805237"/>
            <a:ext cx="387548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Affective Reasoning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F5E218-8352-4DB6-A2F6-5357E5E7C123}"/>
              </a:ext>
            </a:extLst>
          </p:cNvPr>
          <p:cNvSpPr txBox="1"/>
          <p:nvPr/>
        </p:nvSpPr>
        <p:spPr>
          <a:xfrm>
            <a:off x="4619625" y="411003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Hybrid models evaluating tone, confidence, technical clarity, and candidate depth.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9376EC-05D5-402A-AE4A-3FA6DDB86EF8}"/>
              </a:ext>
            </a:extLst>
          </p:cNvPr>
          <p:cNvSpPr txBox="1"/>
          <p:nvPr/>
        </p:nvSpPr>
        <p:spPr>
          <a:xfrm>
            <a:off x="8353425" y="3805237"/>
            <a:ext cx="3838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Inspectable Quotes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103393-5231-4249-96D9-57A272F1629C}"/>
              </a:ext>
            </a:extLst>
          </p:cNvPr>
          <p:cNvSpPr txBox="1"/>
          <p:nvPr/>
        </p:nvSpPr>
        <p:spPr>
          <a:xfrm>
            <a:off x="8353425" y="4110037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Direct video/audio timestamps matched side-by-side with resume claim rubrics.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BE6A8E-37E3-4DD8-8E63-3BCD6AF52138}"/>
              </a:ext>
            </a:extLst>
          </p:cNvPr>
          <p:cNvSpPr txBox="1"/>
          <p:nvPr/>
        </p:nvSpPr>
        <p:spPr>
          <a:xfrm>
            <a:off x="376237" y="6369128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RECRUIT AI  /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95AB2-B5C7-4000-8F31-7161D4670FED}"/>
              </a:ext>
            </a:extLst>
          </p:cNvPr>
          <p:cNvSpPr txBox="1"/>
          <p:nvPr/>
        </p:nvSpPr>
        <p:spPr>
          <a:xfrm>
            <a:off x="11188719" y="6369129"/>
            <a:ext cx="502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0</a:t>
            </a:r>
            <a:r>
              <a:rPr lang="en-US" sz="1600" b="1" dirty="0">
                <a:solidFill>
                  <a:srgbClr val="8AA09E"/>
                </a:solidFill>
                <a:latin typeface="Agency FB" panose="020B0503020202020204" pitchFamily="34" charset="0"/>
              </a:rPr>
              <a:t>4</a:t>
            </a:r>
          </a:p>
          <a:p>
            <a:pPr algn="r"/>
            <a:endParaRPr sz="1600" b="1" i="0" dirty="0">
              <a:solidFill>
                <a:srgbClr val="8AA09E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" contrast="2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1">
            <a:extLst>
              <a:ext uri="{FF2B5EF4-FFF2-40B4-BE49-F238E27FC236}">
                <a16:creationId xmlns:a16="http://schemas.microsoft.com/office/drawing/2014/main" id="{C5F1FF03-5940-4380-AABB-F6FFBBB56090}"/>
              </a:ext>
            </a:extLst>
          </p:cNvPr>
          <p:cNvSpPr/>
          <p:nvPr/>
        </p:nvSpPr>
        <p:spPr>
          <a:xfrm>
            <a:off x="576943" y="3328987"/>
            <a:ext cx="350520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2">
            <a:extLst>
              <a:ext uri="{FF2B5EF4-FFF2-40B4-BE49-F238E27FC236}">
                <a16:creationId xmlns:a16="http://schemas.microsoft.com/office/drawing/2014/main" id="{09D60AA1-FC34-4713-948A-2090E59A8856}"/>
              </a:ext>
            </a:extLst>
          </p:cNvPr>
          <p:cNvSpPr/>
          <p:nvPr/>
        </p:nvSpPr>
        <p:spPr>
          <a:xfrm>
            <a:off x="4343400" y="3328987"/>
            <a:ext cx="350520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3">
            <a:extLst>
              <a:ext uri="{FF2B5EF4-FFF2-40B4-BE49-F238E27FC236}">
                <a16:creationId xmlns:a16="http://schemas.microsoft.com/office/drawing/2014/main" id="{DED39271-DC2A-4818-91E0-0F8D0EB55985}"/>
              </a:ext>
            </a:extLst>
          </p:cNvPr>
          <p:cNvSpPr/>
          <p:nvPr/>
        </p:nvSpPr>
        <p:spPr>
          <a:xfrm>
            <a:off x="8077200" y="3328987"/>
            <a:ext cx="3505200" cy="1638300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D15F22-61C1-461F-9D39-5693C761AA48}"/>
              </a:ext>
            </a:extLst>
          </p:cNvPr>
          <p:cNvSpPr txBox="1"/>
          <p:nvPr/>
        </p:nvSpPr>
        <p:spPr>
          <a:xfrm>
            <a:off x="625929" y="533400"/>
            <a:ext cx="6716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chemeClr val="bg1"/>
                </a:solidFill>
                <a:latin typeface="Inter"/>
              </a:rPr>
              <a:t>WHY NOW?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7160DD-F724-4C18-98AB-C7E2B4BC28CF}"/>
              </a:ext>
            </a:extLst>
          </p:cNvPr>
          <p:cNvSpPr txBox="1"/>
          <p:nvPr/>
        </p:nvSpPr>
        <p:spPr>
          <a:xfrm>
            <a:off x="625928" y="752475"/>
            <a:ext cx="115824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chemeClr val="accent6">
                    <a:lumMod val="40000"/>
                    <a:lumOff val="60000"/>
                  </a:schemeClr>
                </a:solidFill>
                <a:latin typeface="Space Grotesk"/>
              </a:rPr>
              <a:t>AI Generation Created Resume Spam. Authentic Evidence is Now Scarce.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676E4B-6D19-4979-91D9-9E77083B8E17}"/>
              </a:ext>
            </a:extLst>
          </p:cNvPr>
          <p:cNvSpPr txBox="1"/>
          <p:nvPr/>
        </p:nvSpPr>
        <p:spPr>
          <a:xfrm>
            <a:off x="914400" y="3633787"/>
            <a:ext cx="222657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01 / Generative AI Overload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4A51DB-D38A-4688-B861-FFD389ED387E}"/>
              </a:ext>
            </a:extLst>
          </p:cNvPr>
          <p:cNvSpPr txBox="1"/>
          <p:nvPr/>
        </p:nvSpPr>
        <p:spPr>
          <a:xfrm>
            <a:off x="914400" y="39766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Candidates use AI to inflate resumes and cheat text-based screens, making paper resumes unreliable.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F9CFDF-320D-4AFC-942F-B1E2412426E9}"/>
              </a:ext>
            </a:extLst>
          </p:cNvPr>
          <p:cNvSpPr txBox="1"/>
          <p:nvPr/>
        </p:nvSpPr>
        <p:spPr>
          <a:xfrm>
            <a:off x="4648200" y="3633787"/>
            <a:ext cx="2138149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02 / Shift to Multimodal AI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D711C2-EA83-4FB8-94FF-BC4EFD2C4463}"/>
              </a:ext>
            </a:extLst>
          </p:cNvPr>
          <p:cNvSpPr txBox="1"/>
          <p:nvPr/>
        </p:nvSpPr>
        <p:spPr>
          <a:xfrm>
            <a:off x="4648200" y="39766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Real-time speech and affective reasoning models enable autonomous, un-cheatable video interviews.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4D34CD-8E3E-4BC0-B6D0-B32420747F2C}"/>
              </a:ext>
            </a:extLst>
          </p:cNvPr>
          <p:cNvSpPr txBox="1"/>
          <p:nvPr/>
        </p:nvSpPr>
        <p:spPr>
          <a:xfrm>
            <a:off x="8382000" y="3633787"/>
            <a:ext cx="230409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chemeClr val="accent6">
                    <a:lumMod val="75000"/>
                  </a:schemeClr>
                </a:solidFill>
                <a:latin typeface="Inter"/>
              </a:rPr>
              <a:t>03 / Buyer Demand for Proof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0F525B9-0D74-47ED-9F35-30BC24799830}"/>
              </a:ext>
            </a:extLst>
          </p:cNvPr>
          <p:cNvSpPr txBox="1"/>
          <p:nvPr/>
        </p:nvSpPr>
        <p:spPr>
          <a:xfrm>
            <a:off x="8382000" y="39766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Recruiting leaders require explainable evaluation scorecards over "black-box" AI matching scores.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3C6C59-1B95-48BF-B577-D09FCF38D564}"/>
              </a:ext>
            </a:extLst>
          </p:cNvPr>
          <p:cNvSpPr txBox="1"/>
          <p:nvPr/>
        </p:nvSpPr>
        <p:spPr>
          <a:xfrm>
            <a:off x="376237" y="6369128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RECRUIT AI  /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BBED26-E3AE-4200-948C-6ACCD9B799E0}"/>
              </a:ext>
            </a:extLst>
          </p:cNvPr>
          <p:cNvSpPr txBox="1"/>
          <p:nvPr/>
        </p:nvSpPr>
        <p:spPr>
          <a:xfrm>
            <a:off x="11188719" y="6369129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0</a:t>
            </a:r>
            <a:r>
              <a:rPr lang="en-US" sz="1600" b="1" dirty="0">
                <a:solidFill>
                  <a:srgbClr val="8AA09E"/>
                </a:solidFill>
                <a:latin typeface="Agency FB" panose="020B0503020202020204" pitchFamily="34" charset="0"/>
              </a:rPr>
              <a:t>5</a:t>
            </a:r>
            <a:endParaRPr sz="1600" b="1" i="0" dirty="0">
              <a:solidFill>
                <a:srgbClr val="8AA09E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4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ounded Rectangle 1">
            <a:extLst>
              <a:ext uri="{FF2B5EF4-FFF2-40B4-BE49-F238E27FC236}">
                <a16:creationId xmlns:a16="http://schemas.microsoft.com/office/drawing/2014/main" id="{93D10E0D-F7EA-414A-B262-F764E96F8ED0}"/>
              </a:ext>
            </a:extLst>
          </p:cNvPr>
          <p:cNvSpPr/>
          <p:nvPr/>
        </p:nvSpPr>
        <p:spPr>
          <a:xfrm>
            <a:off x="609600" y="3019425"/>
            <a:ext cx="5648325" cy="1819275"/>
          </a:xfrm>
          <a:prstGeom prst="roundRect">
            <a:avLst>
              <a:gd name="adj" fmla="val 837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2">
            <a:extLst>
              <a:ext uri="{FF2B5EF4-FFF2-40B4-BE49-F238E27FC236}">
                <a16:creationId xmlns:a16="http://schemas.microsoft.com/office/drawing/2014/main" id="{25DAC3E3-45F1-435C-86A2-038983E1AC28}"/>
              </a:ext>
            </a:extLst>
          </p:cNvPr>
          <p:cNvSpPr/>
          <p:nvPr/>
        </p:nvSpPr>
        <p:spPr>
          <a:xfrm>
            <a:off x="923925" y="3333750"/>
            <a:ext cx="1362075" cy="2190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3">
            <a:extLst>
              <a:ext uri="{FF2B5EF4-FFF2-40B4-BE49-F238E27FC236}">
                <a16:creationId xmlns:a16="http://schemas.microsoft.com/office/drawing/2014/main" id="{16A058EF-153B-4493-B784-17DE920563CF}"/>
              </a:ext>
            </a:extLst>
          </p:cNvPr>
          <p:cNvSpPr/>
          <p:nvPr/>
        </p:nvSpPr>
        <p:spPr>
          <a:xfrm>
            <a:off x="6562725" y="3119437"/>
            <a:ext cx="5019675" cy="733425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4">
            <a:extLst>
              <a:ext uri="{FF2B5EF4-FFF2-40B4-BE49-F238E27FC236}">
                <a16:creationId xmlns:a16="http://schemas.microsoft.com/office/drawing/2014/main" id="{B81F2749-31CE-4466-AB40-EDFC566DE017}"/>
              </a:ext>
            </a:extLst>
          </p:cNvPr>
          <p:cNvSpPr/>
          <p:nvPr/>
        </p:nvSpPr>
        <p:spPr>
          <a:xfrm>
            <a:off x="6562725" y="4005262"/>
            <a:ext cx="5019675" cy="733425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5">
            <a:extLst>
              <a:ext uri="{FF2B5EF4-FFF2-40B4-BE49-F238E27FC236}">
                <a16:creationId xmlns:a16="http://schemas.microsoft.com/office/drawing/2014/main" id="{ECEA11F7-BADA-4E5D-8776-38E7FBC037D9}"/>
              </a:ext>
            </a:extLst>
          </p:cNvPr>
          <p:cNvSpPr/>
          <p:nvPr/>
        </p:nvSpPr>
        <p:spPr>
          <a:xfrm>
            <a:off x="6753225" y="33147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">
            <a:extLst>
              <a:ext uri="{FF2B5EF4-FFF2-40B4-BE49-F238E27FC236}">
                <a16:creationId xmlns:a16="http://schemas.microsoft.com/office/drawing/2014/main" id="{20B59BB3-7E50-479C-AD9D-D1CECACBC7B6}"/>
              </a:ext>
            </a:extLst>
          </p:cNvPr>
          <p:cNvSpPr/>
          <p:nvPr/>
        </p:nvSpPr>
        <p:spPr>
          <a:xfrm>
            <a:off x="6753225" y="42005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A73CDC-678C-40DF-ADEC-A2FC0F8C527E}"/>
              </a:ext>
            </a:extLst>
          </p:cNvPr>
          <p:cNvSpPr txBox="1"/>
          <p:nvPr/>
        </p:nvSpPr>
        <p:spPr>
          <a:xfrm>
            <a:off x="609600" y="533400"/>
            <a:ext cx="120706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chemeClr val="bg1"/>
                </a:solidFill>
                <a:latin typeface="Inter"/>
              </a:rPr>
              <a:t>BEACHHEAD MARKET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5DB5B0-4132-4DB3-A7C0-5C9953B0ACBB}"/>
              </a:ext>
            </a:extLst>
          </p:cNvPr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Starting Where Verification Matters Most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C5E1FF-122C-401F-B418-27C76764F7A0}"/>
              </a:ext>
            </a:extLst>
          </p:cNvPr>
          <p:cNvSpPr txBox="1"/>
          <p:nvPr/>
        </p:nvSpPr>
        <p:spPr>
          <a:xfrm>
            <a:off x="1038225" y="3371850"/>
            <a:ext cx="1228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RECOMMENDED ICP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CC1C9D-F794-44BF-BC16-D59C8C20AB50}"/>
              </a:ext>
            </a:extLst>
          </p:cNvPr>
          <p:cNvSpPr txBox="1"/>
          <p:nvPr/>
        </p:nvSpPr>
        <p:spPr>
          <a:xfrm>
            <a:off x="923925" y="3676650"/>
            <a:ext cx="658832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3A8A"/>
                </a:solidFill>
                <a:latin typeface="Inter"/>
              </a:rPr>
              <a:t>Technical Recruitment Agencies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4C2D97-B3DC-4E1B-8AE1-39634179E3CE}"/>
              </a:ext>
            </a:extLst>
          </p:cNvPr>
          <p:cNvSpPr txBox="1"/>
          <p:nvPr/>
        </p:nvSpPr>
        <p:spPr>
          <a:xfrm>
            <a:off x="923925" y="4067175"/>
            <a:ext cx="5114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E40AF"/>
                </a:solidFill>
                <a:latin typeface="Inter"/>
              </a:rPr>
              <a:t>Indian staffing firms managing multi-client developer pipelines with urgent need for client-defendable shortlists.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BAB984-80F6-44CB-8698-13E5A9C7D479}"/>
              </a:ext>
            </a:extLst>
          </p:cNvPr>
          <p:cNvSpPr txBox="1"/>
          <p:nvPr/>
        </p:nvSpPr>
        <p:spPr>
          <a:xfrm>
            <a:off x="6610350" y="3314700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B40052-CD89-4EF4-B992-063A539A819D}"/>
              </a:ext>
            </a:extLst>
          </p:cNvPr>
          <p:cNvSpPr txBox="1"/>
          <p:nvPr/>
        </p:nvSpPr>
        <p:spPr>
          <a:xfrm>
            <a:off x="6610350" y="4200525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137535-54B2-48C0-9F45-9366F3BE1EDB}"/>
              </a:ext>
            </a:extLst>
          </p:cNvPr>
          <p:cNvSpPr txBox="1"/>
          <p:nvPr/>
        </p:nvSpPr>
        <p:spPr>
          <a:xfrm>
            <a:off x="7248525" y="3309937"/>
            <a:ext cx="303787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Land: Bulk Screening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E1CCA2-CB47-4E0D-A32C-B331AF9BEBF0}"/>
              </a:ext>
            </a:extLst>
          </p:cNvPr>
          <p:cNvSpPr txBox="1"/>
          <p:nvPr/>
        </p:nvSpPr>
        <p:spPr>
          <a:xfrm>
            <a:off x="7248525" y="3500437"/>
            <a:ext cx="2893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Fast JD parsing &amp; candidate ranking.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9C13893-1FF0-4F26-95A2-06976B888CCF}"/>
              </a:ext>
            </a:extLst>
          </p:cNvPr>
          <p:cNvSpPr txBox="1"/>
          <p:nvPr/>
        </p:nvSpPr>
        <p:spPr>
          <a:xfrm>
            <a:off x="7248525" y="4195762"/>
            <a:ext cx="33504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Expand: AI Video Interviews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E63544-2F5D-4DFE-BCC9-0CCEF4B45F3D}"/>
              </a:ext>
            </a:extLst>
          </p:cNvPr>
          <p:cNvSpPr txBox="1"/>
          <p:nvPr/>
        </p:nvSpPr>
        <p:spPr>
          <a:xfrm>
            <a:off x="7248525" y="4386262"/>
            <a:ext cx="3190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Autonomous dynamic interview add-ons.</a:t>
            </a:r>
          </a:p>
        </p:txBody>
      </p:sp>
      <p:sp>
        <p:nvSpPr>
          <p:cNvPr id="77" name="Rounded Rectangle 1">
            <a:extLst>
              <a:ext uri="{FF2B5EF4-FFF2-40B4-BE49-F238E27FC236}">
                <a16:creationId xmlns:a16="http://schemas.microsoft.com/office/drawing/2014/main" id="{BC5D6F8A-0418-4AAF-B621-263C00B221AA}"/>
              </a:ext>
            </a:extLst>
          </p:cNvPr>
          <p:cNvSpPr/>
          <p:nvPr/>
        </p:nvSpPr>
        <p:spPr>
          <a:xfrm>
            <a:off x="625929" y="3019425"/>
            <a:ext cx="5648325" cy="1819275"/>
          </a:xfrm>
          <a:prstGeom prst="roundRect">
            <a:avLst>
              <a:gd name="adj" fmla="val 8376"/>
            </a:avLst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FEEA8559-5A17-42EB-AC1B-C416ED3DF354}"/>
              </a:ext>
            </a:extLst>
          </p:cNvPr>
          <p:cNvSpPr/>
          <p:nvPr/>
        </p:nvSpPr>
        <p:spPr>
          <a:xfrm>
            <a:off x="859164" y="3324225"/>
            <a:ext cx="1362075" cy="219075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9" name="Rounded Rectangle 3">
            <a:extLst>
              <a:ext uri="{FF2B5EF4-FFF2-40B4-BE49-F238E27FC236}">
                <a16:creationId xmlns:a16="http://schemas.microsoft.com/office/drawing/2014/main" id="{9F647FAB-F73C-42F4-9F76-3D38DFDA3D28}"/>
              </a:ext>
            </a:extLst>
          </p:cNvPr>
          <p:cNvSpPr/>
          <p:nvPr/>
        </p:nvSpPr>
        <p:spPr>
          <a:xfrm>
            <a:off x="6579054" y="3119437"/>
            <a:ext cx="5019675" cy="733425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4">
            <a:extLst>
              <a:ext uri="{FF2B5EF4-FFF2-40B4-BE49-F238E27FC236}">
                <a16:creationId xmlns:a16="http://schemas.microsoft.com/office/drawing/2014/main" id="{56D1F1FD-F5D6-409F-8ADC-20B74DC824C6}"/>
              </a:ext>
            </a:extLst>
          </p:cNvPr>
          <p:cNvSpPr/>
          <p:nvPr/>
        </p:nvSpPr>
        <p:spPr>
          <a:xfrm>
            <a:off x="6579054" y="4005262"/>
            <a:ext cx="5019675" cy="733425"/>
          </a:xfrm>
          <a:prstGeom prst="roundRect">
            <a:avLst>
              <a:gd name="adj" fmla="val 155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ounded Rectangle 5">
            <a:extLst>
              <a:ext uri="{FF2B5EF4-FFF2-40B4-BE49-F238E27FC236}">
                <a16:creationId xmlns:a16="http://schemas.microsoft.com/office/drawing/2014/main" id="{C9A0B651-6526-4685-87D0-9DC7B432038D}"/>
              </a:ext>
            </a:extLst>
          </p:cNvPr>
          <p:cNvSpPr/>
          <p:nvPr/>
        </p:nvSpPr>
        <p:spPr>
          <a:xfrm>
            <a:off x="6769554" y="3314700"/>
            <a:ext cx="342900" cy="3429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6">
            <a:extLst>
              <a:ext uri="{FF2B5EF4-FFF2-40B4-BE49-F238E27FC236}">
                <a16:creationId xmlns:a16="http://schemas.microsoft.com/office/drawing/2014/main" id="{D6741E55-85F7-44D5-BB37-46A7CEC45DFE}"/>
              </a:ext>
            </a:extLst>
          </p:cNvPr>
          <p:cNvSpPr/>
          <p:nvPr/>
        </p:nvSpPr>
        <p:spPr>
          <a:xfrm>
            <a:off x="6769554" y="4200525"/>
            <a:ext cx="342900" cy="342900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03A51E2-A214-45FA-A2EC-1179DB6EAE86}"/>
              </a:ext>
            </a:extLst>
          </p:cNvPr>
          <p:cNvSpPr txBox="1"/>
          <p:nvPr/>
        </p:nvSpPr>
        <p:spPr>
          <a:xfrm>
            <a:off x="625929" y="752475"/>
            <a:ext cx="5943678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chemeClr val="accent6">
                    <a:lumMod val="40000"/>
                    <a:lumOff val="60000"/>
                  </a:schemeClr>
                </a:solidFill>
                <a:latin typeface="Space Grotesk"/>
              </a:rPr>
              <a:t>Starting Where Verification Matters Most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6479DA6-6ACA-4B3B-A3B3-36A32AA31D55}"/>
              </a:ext>
            </a:extLst>
          </p:cNvPr>
          <p:cNvSpPr txBox="1"/>
          <p:nvPr/>
        </p:nvSpPr>
        <p:spPr>
          <a:xfrm>
            <a:off x="1054554" y="3371850"/>
            <a:ext cx="1228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chemeClr val="bg1"/>
                </a:solidFill>
                <a:latin typeface="Inter"/>
              </a:rPr>
              <a:t>RECOMMENDED ICP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5F4E3FC-74FC-455E-8FC9-E980D8D83723}"/>
              </a:ext>
            </a:extLst>
          </p:cNvPr>
          <p:cNvSpPr txBox="1"/>
          <p:nvPr/>
        </p:nvSpPr>
        <p:spPr>
          <a:xfrm>
            <a:off x="940254" y="3676650"/>
            <a:ext cx="300678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chemeClr val="bg1">
                    <a:lumMod val="65000"/>
                  </a:schemeClr>
                </a:solidFill>
                <a:latin typeface="Inter"/>
              </a:rPr>
              <a:t>Technical Recruitment Agencies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4CC7B0-28AD-4E58-8E2B-01175ED96819}"/>
              </a:ext>
            </a:extLst>
          </p:cNvPr>
          <p:cNvSpPr txBox="1"/>
          <p:nvPr/>
        </p:nvSpPr>
        <p:spPr>
          <a:xfrm>
            <a:off x="940254" y="4067175"/>
            <a:ext cx="51149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chemeClr val="bg1">
                    <a:lumMod val="50000"/>
                  </a:schemeClr>
                </a:solidFill>
                <a:latin typeface="Inter"/>
              </a:rPr>
              <a:t>Indian staffing firms managing multi-client developer pipelines with urgent need for client-defendable shortlists.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CCDFAC-059A-4FC4-8B6E-AB2010EB07AA}"/>
              </a:ext>
            </a:extLst>
          </p:cNvPr>
          <p:cNvSpPr txBox="1"/>
          <p:nvPr/>
        </p:nvSpPr>
        <p:spPr>
          <a:xfrm>
            <a:off x="6626679" y="330755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F6C31A8-BA5A-4257-BADA-7ADAEAD2DC28}"/>
              </a:ext>
            </a:extLst>
          </p:cNvPr>
          <p:cNvSpPr txBox="1"/>
          <p:nvPr/>
        </p:nvSpPr>
        <p:spPr>
          <a:xfrm>
            <a:off x="6626679" y="419289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 dirty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4218444-C99C-4CD5-934E-DECF41C878A6}"/>
              </a:ext>
            </a:extLst>
          </p:cNvPr>
          <p:cNvSpPr txBox="1"/>
          <p:nvPr/>
        </p:nvSpPr>
        <p:spPr>
          <a:xfrm>
            <a:off x="7264854" y="3309937"/>
            <a:ext cx="303787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Land: Bulk Screening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C5B5ECF-ADF6-4256-A81D-4E3DF81C6D8B}"/>
              </a:ext>
            </a:extLst>
          </p:cNvPr>
          <p:cNvSpPr txBox="1"/>
          <p:nvPr/>
        </p:nvSpPr>
        <p:spPr>
          <a:xfrm>
            <a:off x="7264854" y="3500437"/>
            <a:ext cx="28932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Fast JD parsing &amp; candidate ranking.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71FB5A3-33F9-4D7F-BE44-79A8409B03D5}"/>
              </a:ext>
            </a:extLst>
          </p:cNvPr>
          <p:cNvSpPr txBox="1"/>
          <p:nvPr/>
        </p:nvSpPr>
        <p:spPr>
          <a:xfrm>
            <a:off x="7264854" y="4195762"/>
            <a:ext cx="33504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Expand: AI Video Interviews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77B28DD-6113-4084-9602-4F9972867665}"/>
              </a:ext>
            </a:extLst>
          </p:cNvPr>
          <p:cNvSpPr txBox="1"/>
          <p:nvPr/>
        </p:nvSpPr>
        <p:spPr>
          <a:xfrm>
            <a:off x="7264854" y="4386262"/>
            <a:ext cx="31908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Autonomous dynamic interview add-ons.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BB15E7-D3E5-41D6-A8D7-835F1F15957D}"/>
              </a:ext>
            </a:extLst>
          </p:cNvPr>
          <p:cNvSpPr txBox="1"/>
          <p:nvPr/>
        </p:nvSpPr>
        <p:spPr>
          <a:xfrm>
            <a:off x="376237" y="6369128"/>
            <a:ext cx="4114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RECRUIT AI  /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CC2810F-57D0-4F5F-B87F-67F0D95B409D}"/>
              </a:ext>
            </a:extLst>
          </p:cNvPr>
          <p:cNvSpPr txBox="1"/>
          <p:nvPr/>
        </p:nvSpPr>
        <p:spPr>
          <a:xfrm>
            <a:off x="11188719" y="6369129"/>
            <a:ext cx="5029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0</a:t>
            </a:r>
            <a:r>
              <a:rPr lang="en-US" sz="1600" b="1" i="0" dirty="0">
                <a:solidFill>
                  <a:srgbClr val="8AA09E"/>
                </a:solidFill>
                <a:latin typeface="Agency FB" panose="020B0503020202020204" pitchFamily="34" charset="0"/>
              </a:rPr>
              <a:t>6</a:t>
            </a:r>
            <a:endParaRPr sz="1600" b="1" i="0" dirty="0">
              <a:solidFill>
                <a:srgbClr val="8AA09E"/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16000"/>
                    </a14:imgEffect>
                  </a14:imgLayer>
                </a14:imgProps>
              </a:ext>
            </a:extLst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42B38"/>
                </a:solidFill>
                <a:latin typeface="Aptos"/>
              </a:rPr>
              <a:t>A focused bottom-up market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Aptos"/>
              </a:rPr>
              <a:t>Use verified customer counts and contract values before sending. This slide is structured for diligence, without fabricated TAM claims.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3310128" cy="7498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459736"/>
            <a:ext cx="298094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TARGET AGENCIES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79191"/>
            <a:ext cx="29809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15,000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1648" y="2542032"/>
            <a:ext cx="365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latin typeface="Aptos"/>
              </a:rPr>
              <a:t>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2331720"/>
            <a:ext cx="3310128" cy="7498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8304" y="2459736"/>
            <a:ext cx="298094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ANNUAL CONTRACT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8304" y="2679191"/>
            <a:ext cx="29809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 i="0" dirty="0">
                <a:solidFill>
                  <a:srgbClr val="142B38"/>
                </a:solidFill>
                <a:latin typeface="Aptos"/>
              </a:rPr>
              <a:t>2,40,000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2542032"/>
            <a:ext cx="3657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latin typeface="Aptos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13064" y="2331720"/>
            <a:ext cx="3063240" cy="74980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77656" y="2459736"/>
            <a:ext cx="273405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INITIAL SERVICEABLE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656" y="2679191"/>
            <a:ext cx="27340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 i="0" dirty="0">
                <a:solidFill>
                  <a:srgbClr val="142B38"/>
                </a:solidFill>
                <a:latin typeface="Aptos"/>
              </a:rPr>
              <a:t>360 – 400 CR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474720"/>
            <a:ext cx="10972800" cy="0"/>
          </a:xfrm>
          <a:prstGeom prst="line">
            <a:avLst/>
          </a:prstGeom>
          <a:ln w="15240">
            <a:solidFill>
              <a:srgbClr val="D9E4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867912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BEACHHEAD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61104"/>
            <a:ext cx="3063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Indian technical recruitment agencies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7375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  <a:latin typeface="Aptos"/>
              </a:rPr>
              <a:t>Multi-client roles • repeat screening • client accountability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3867912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EXPAND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4261104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In-house recruiting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4873752"/>
            <a:ext cx="3063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  <a:latin typeface="Aptos"/>
              </a:rPr>
              <a:t>Structured screening and interview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3867912"/>
            <a:ext cx="10972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4261104"/>
            <a:ext cx="3063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chemeClr val="bg1"/>
                </a:solidFill>
                <a:latin typeface="Aptos"/>
              </a:rPr>
              <a:t>Hiring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873752"/>
            <a:ext cx="3063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chemeClr val="bg1"/>
                </a:solidFill>
                <a:latin typeface="Aptos"/>
              </a:rPr>
              <a:t>ATS handoff • rediscovery • outcome 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8AA09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Aptos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42B38"/>
                </a:solidFill>
                <a:latin typeface="Aptos"/>
              </a:rPr>
              <a:t>Win on reviewability, not feature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chemeClr val="bg1"/>
                </a:solidFill>
                <a:latin typeface="Aptos"/>
              </a:rPr>
              <a:t>Established platforms cover broad ATS, CRM and analytics categories. Recruit AI begins with an evidence-first decision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212848"/>
            <a:ext cx="269748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368296"/>
            <a:ext cx="255117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91840" y="2212848"/>
            <a:ext cx="1965960" cy="502920"/>
          </a:xfrm>
          <a:prstGeom prst="rect">
            <a:avLst/>
          </a:prstGeom>
          <a:solidFill>
            <a:srgbClr val="142B38"/>
          </a:solidFill>
          <a:ln>
            <a:solidFill>
              <a:srgbClr val="14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6499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ptos"/>
              </a:rPr>
              <a:t>Recruit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212848"/>
            <a:ext cx="196596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3095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B38"/>
                </a:solidFill>
                <a:latin typeface="Aptos"/>
              </a:rPr>
              <a:t>ATS suites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2212848"/>
            <a:ext cx="196596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691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B38"/>
                </a:solidFill>
                <a:latin typeface="Aptos"/>
              </a:rPr>
              <a:t>Sourcing platforms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2212848"/>
            <a:ext cx="1965960" cy="502920"/>
          </a:xfrm>
          <a:prstGeom prst="rect">
            <a:avLst/>
          </a:prstGeom>
          <a:solidFill>
            <a:srgbClr val="E9EFEE"/>
          </a:solidFill>
          <a:ln>
            <a:solidFill>
              <a:srgbClr val="E9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62872" y="2368296"/>
            <a:ext cx="1819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42B38"/>
                </a:solidFill>
                <a:latin typeface="Aptos"/>
              </a:rPr>
              <a:t>Manual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61488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16936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JD → shared evidence rubric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761488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2761488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761488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19" y="2761488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19" y="287121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319272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474720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Inspectable resume quotes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319272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0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3319272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57800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3319272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0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19" y="3319272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19" y="3429000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3877056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4032504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Candidate comparison by evidence gaps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877056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91840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3877056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257800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877056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0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19" y="3877056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89719" y="3986784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434840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459028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Human decision trail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434840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40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800" y="443484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57800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443484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23760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19" y="443484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89719" y="4544568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992624"/>
            <a:ext cx="2697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49808" y="5148072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2B38"/>
                </a:solidFill>
                <a:latin typeface="Aptos"/>
              </a:rPr>
              <a:t>Broad ATS / CRM coverage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4992624"/>
            <a:ext cx="1965960" cy="521207"/>
          </a:xfrm>
          <a:prstGeom prst="rect">
            <a:avLst/>
          </a:prstGeom>
          <a:solidFill>
            <a:srgbClr val="E7F2E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91840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99262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57800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499262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223760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68276"/>
                </a:solidFill>
                <a:latin typeface="Aptos"/>
              </a:rPr>
              <a:t>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19" y="499262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9E4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189719" y="5102352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607380"/>
                </a:solidFill>
                <a:latin typeface="Aptos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5742432"/>
            <a:ext cx="566928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07380"/>
                </a:solidFill>
                <a:latin typeface="Aptos"/>
              </a:rPr>
              <a:t>● core strength   ◐ available / varies   ○ not the core workflow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4808" y="5742432"/>
            <a:ext cx="5074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 dirty="0">
                <a:solidFill>
                  <a:schemeClr val="bg1"/>
                </a:solidFill>
                <a:latin typeface="Aptos"/>
              </a:rPr>
              <a:t>Qualitative founder view — validate through customer interviews and competitive demos</a:t>
            </a:r>
            <a:r>
              <a:rPr sz="900" b="0" i="1" dirty="0">
                <a:solidFill>
                  <a:srgbClr val="607380"/>
                </a:solidFill>
                <a:latin typeface="Aptos"/>
              </a:rPr>
              <a:t>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8AA09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8AA09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BCEA5A62-A179-4E3A-97F1-6E24AE94F0DA}"/>
              </a:ext>
            </a:extLst>
          </p:cNvPr>
          <p:cNvSpPr/>
          <p:nvPr/>
        </p:nvSpPr>
        <p:spPr>
          <a:xfrm>
            <a:off x="609600" y="3081337"/>
            <a:ext cx="3498800" cy="1695450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2">
            <a:extLst>
              <a:ext uri="{FF2B5EF4-FFF2-40B4-BE49-F238E27FC236}">
                <a16:creationId xmlns:a16="http://schemas.microsoft.com/office/drawing/2014/main" id="{470843FA-F52C-46AE-8B62-69EE52093A94}"/>
              </a:ext>
            </a:extLst>
          </p:cNvPr>
          <p:cNvSpPr/>
          <p:nvPr/>
        </p:nvSpPr>
        <p:spPr>
          <a:xfrm>
            <a:off x="4337000" y="3071812"/>
            <a:ext cx="3517850" cy="1714500"/>
          </a:xfrm>
          <a:prstGeom prst="roundRect">
            <a:avLst>
              <a:gd name="adj" fmla="val 8888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22B664A0-6D2C-470F-B5BB-28CB5EDD3433}"/>
              </a:ext>
            </a:extLst>
          </p:cNvPr>
          <p:cNvSpPr/>
          <p:nvPr/>
        </p:nvSpPr>
        <p:spPr>
          <a:xfrm>
            <a:off x="8083450" y="3081337"/>
            <a:ext cx="3498800" cy="1695450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7AF8BE-3D4B-4E1C-A834-DF0FD06731AC}"/>
              </a:ext>
            </a:extLst>
          </p:cNvPr>
          <p:cNvSpPr txBox="1"/>
          <p:nvPr/>
        </p:nvSpPr>
        <p:spPr>
          <a:xfrm>
            <a:off x="609600" y="533400"/>
            <a:ext cx="9922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chemeClr val="bg1"/>
                </a:solidFill>
                <a:latin typeface="Inter"/>
              </a:rPr>
              <a:t>BUSINESS MODEL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5ECB68-7FD2-4381-86C1-3EA9A48F6CE6}"/>
              </a:ext>
            </a:extLst>
          </p:cNvPr>
          <p:cNvSpPr txBox="1"/>
          <p:nvPr/>
        </p:nvSpPr>
        <p:spPr>
          <a:xfrm>
            <a:off x="609600" y="752475"/>
            <a:ext cx="679480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chemeClr val="accent5">
                    <a:lumMod val="20000"/>
                    <a:lumOff val="80000"/>
                  </a:schemeClr>
                </a:solidFill>
                <a:latin typeface="Space Grotesk"/>
              </a:rPr>
              <a:t>Hybrid SaaS Subscription + Usage-Based Pricing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BDB2BD-3C82-40B3-9CC2-32D744DC90DD}"/>
              </a:ext>
            </a:extLst>
          </p:cNvPr>
          <p:cNvSpPr txBox="1"/>
          <p:nvPr/>
        </p:nvSpPr>
        <p:spPr>
          <a:xfrm>
            <a:off x="914400" y="3386137"/>
            <a:ext cx="29844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PAY-PER-INTERVIEW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2E4A64-2300-42F4-8DD1-50EA8B1B48F3}"/>
              </a:ext>
            </a:extLst>
          </p:cNvPr>
          <p:cNvSpPr txBox="1"/>
          <p:nvPr/>
        </p:nvSpPr>
        <p:spPr>
          <a:xfrm>
            <a:off x="4641800" y="3376612"/>
            <a:ext cx="30035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Inter"/>
              </a:rPr>
              <a:t>GROWTH SAAS TIER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BE46C0-7ED1-49FB-A7CD-C57E97D82180}"/>
              </a:ext>
            </a:extLst>
          </p:cNvPr>
          <p:cNvSpPr txBox="1"/>
          <p:nvPr/>
        </p:nvSpPr>
        <p:spPr>
          <a:xfrm>
            <a:off x="8388250" y="3386137"/>
            <a:ext cx="2984450" cy="1085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Inter"/>
              </a:rPr>
              <a:t>ENTERPRISE PLAN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7A0667-10B0-4FDC-99A7-DD986BF72A7F}"/>
              </a:ext>
            </a:extLst>
          </p:cNvPr>
          <p:cNvSpPr txBox="1"/>
          <p:nvPr/>
        </p:nvSpPr>
        <p:spPr>
          <a:xfrm>
            <a:off x="923925" y="3700462"/>
            <a:ext cx="376707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₹100 – ₹200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B26526-F843-4E1F-9A4C-75B032F9B05A}"/>
              </a:ext>
            </a:extLst>
          </p:cNvPr>
          <p:cNvSpPr txBox="1"/>
          <p:nvPr/>
        </p:nvSpPr>
        <p:spPr>
          <a:xfrm>
            <a:off x="923925" y="4100512"/>
            <a:ext cx="2965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Per conducted AI candidate interview. Ideal for campus drives.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21D36B-E8EB-4BB1-8D11-16A863DC11DB}"/>
              </a:ext>
            </a:extLst>
          </p:cNvPr>
          <p:cNvSpPr txBox="1"/>
          <p:nvPr/>
        </p:nvSpPr>
        <p:spPr>
          <a:xfrm>
            <a:off x="4660850" y="3700462"/>
            <a:ext cx="376707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E40AF"/>
                </a:solidFill>
                <a:latin typeface="Inter"/>
              </a:rPr>
              <a:t>₹45,000 / mo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204D3F-C730-4CFD-9E91-A65D8D00C93F}"/>
              </a:ext>
            </a:extLst>
          </p:cNvPr>
          <p:cNvSpPr txBox="1"/>
          <p:nvPr/>
        </p:nvSpPr>
        <p:spPr>
          <a:xfrm>
            <a:off x="4660850" y="4100512"/>
            <a:ext cx="2965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3A8A"/>
                </a:solidFill>
                <a:latin typeface="Inter"/>
              </a:rPr>
              <a:t>500 AI interview minutes, custom rubrics, affective reports, ATS sync.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E89691-704C-43D5-9845-525C9E120431}"/>
              </a:ext>
            </a:extLst>
          </p:cNvPr>
          <p:cNvSpPr txBox="1"/>
          <p:nvPr/>
        </p:nvSpPr>
        <p:spPr>
          <a:xfrm>
            <a:off x="8397775" y="3700462"/>
            <a:ext cx="3767072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Custom ACV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975792-CB77-423C-8BD7-6687DCBD59F0}"/>
              </a:ext>
            </a:extLst>
          </p:cNvPr>
          <p:cNvSpPr txBox="1"/>
          <p:nvPr/>
        </p:nvSpPr>
        <p:spPr>
          <a:xfrm>
            <a:off x="8397775" y="4100512"/>
            <a:ext cx="29654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Unlimited minutes, fine-tuned stack models, dedicated API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latin typeface="Aptos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latin typeface="Aptos"/>
              </a:rPr>
              <a:t>Founder-led, workflow-specific and proof-driven.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00784"/>
            <a:ext cx="10241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latin typeface="Aptos"/>
              </a:rPr>
              <a:t>The first sale is a measured pilot. The expansion motion begins after a client-ready shortlist is delivered.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" y="2249424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3111" y="2318004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286000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2231136"/>
            <a:ext cx="2880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Technical recruitment agencies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231136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5 customer interviews → 2–3 live pilots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615184"/>
            <a:ext cx="0" cy="475488"/>
          </a:xfrm>
          <a:prstGeom prst="line">
            <a:avLst/>
          </a:prstGeom>
          <a:ln w="19050">
            <a:solidFill>
              <a:srgbClr val="B9C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3504" y="3191256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9027" y="3273884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27832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PROVE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3172968"/>
            <a:ext cx="2880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One real role and resume 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172968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Measure review time, acceptance and provider cost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557016"/>
            <a:ext cx="0" cy="475488"/>
          </a:xfrm>
          <a:prstGeom prst="line">
            <a:avLst/>
          </a:prstGeom>
          <a:ln w="19050">
            <a:solidFill>
              <a:srgbClr val="B9C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03504" y="4133087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9027" y="4201668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169663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LAND &amp; 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4114800"/>
            <a:ext cx="28803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Convert pilot into team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114800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Add repeat roles, seats and client decision workflow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498848"/>
            <a:ext cx="0" cy="475488"/>
          </a:xfrm>
          <a:prstGeom prst="line">
            <a:avLst/>
          </a:prstGeom>
          <a:ln w="19050">
            <a:solidFill>
              <a:srgbClr val="B9CF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" y="5074920"/>
            <a:ext cx="484632" cy="310896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096" y="5143500"/>
            <a:ext cx="338328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111496"/>
            <a:ext cx="1600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Aptos"/>
              </a:rPr>
              <a:t>DISTRIBUTE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5056632"/>
            <a:ext cx="288036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chemeClr val="bg1"/>
                </a:solidFill>
                <a:latin typeface="Aptos"/>
              </a:rPr>
              <a:t>Agency referrals + focused partnerships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056632"/>
            <a:ext cx="4892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chemeClr val="bg1"/>
                </a:solidFill>
                <a:latin typeface="Aptos"/>
              </a:rPr>
              <a:t>Add first ATS handoff only after demand is clear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6053328"/>
            <a:ext cx="10972800" cy="384048"/>
          </a:xfrm>
          <a:prstGeom prst="roundRect">
            <a:avLst/>
          </a:prstGeom>
          <a:solidFill>
            <a:srgbClr val="E7F2EF"/>
          </a:solidFill>
          <a:ln>
            <a:solidFill>
              <a:srgbClr val="E7F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1248" y="6153912"/>
            <a:ext cx="104698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latin typeface="Aptos"/>
              </a:rPr>
              <a:t>North-star activation: first reviewed shortlist from a live role — measured, not promised.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1148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chemeClr val="bg1"/>
                </a:solidFill>
                <a:latin typeface="Aptos"/>
              </a:rPr>
              <a:t>RECRUIT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92240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chemeClr val="bg1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76EE2AC0-01D7-4ED3-AFD5-E9BEE6C2620D}"/>
              </a:ext>
            </a:extLst>
          </p:cNvPr>
          <p:cNvSpPr/>
          <p:nvPr/>
        </p:nvSpPr>
        <p:spPr>
          <a:xfrm>
            <a:off x="609600" y="3043237"/>
            <a:ext cx="3454449" cy="1733550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2">
            <a:extLst>
              <a:ext uri="{FF2B5EF4-FFF2-40B4-BE49-F238E27FC236}">
                <a16:creationId xmlns:a16="http://schemas.microsoft.com/office/drawing/2014/main" id="{F8192DEE-801C-48CB-8859-711DA6B5AFCD}"/>
              </a:ext>
            </a:extLst>
          </p:cNvPr>
          <p:cNvSpPr/>
          <p:nvPr/>
        </p:nvSpPr>
        <p:spPr>
          <a:xfrm>
            <a:off x="4368849" y="3043237"/>
            <a:ext cx="3454449" cy="1733550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">
            <a:extLst>
              <a:ext uri="{FF2B5EF4-FFF2-40B4-BE49-F238E27FC236}">
                <a16:creationId xmlns:a16="http://schemas.microsoft.com/office/drawing/2014/main" id="{FE38B196-641F-4ACD-B88A-8BF2AF265F47}"/>
              </a:ext>
            </a:extLst>
          </p:cNvPr>
          <p:cNvSpPr/>
          <p:nvPr/>
        </p:nvSpPr>
        <p:spPr>
          <a:xfrm>
            <a:off x="8128099" y="3043237"/>
            <a:ext cx="3454449" cy="1733550"/>
          </a:xfrm>
          <a:prstGeom prst="roundRect">
            <a:avLst>
              <a:gd name="adj" fmla="val 87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0EC533-5B7D-4807-BF25-541DA1553F0E}"/>
              </a:ext>
            </a:extLst>
          </p:cNvPr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TRACTION &amp; MILESTONES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5F46A7-7883-4BDA-B8B3-631F94B2D700}"/>
              </a:ext>
            </a:extLst>
          </p:cNvPr>
          <p:cNvSpPr txBox="1"/>
          <p:nvPr/>
        </p:nvSpPr>
        <p:spPr>
          <a:xfrm>
            <a:off x="609600" y="7524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Functional MVP Operating in Pilot Stage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29D0A5-59E2-47C1-B53C-C8FDE5F88C1E}"/>
              </a:ext>
            </a:extLst>
          </p:cNvPr>
          <p:cNvSpPr txBox="1"/>
          <p:nvPr/>
        </p:nvSpPr>
        <p:spPr>
          <a:xfrm>
            <a:off x="558793" y="3348037"/>
            <a:ext cx="3556062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2563EB"/>
                </a:solidFill>
                <a:latin typeface="Inter"/>
              </a:rPr>
              <a:t>3+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569248-74C4-4414-95C3-F3D4A2113EF1}"/>
              </a:ext>
            </a:extLst>
          </p:cNvPr>
          <p:cNvSpPr txBox="1"/>
          <p:nvPr/>
        </p:nvSpPr>
        <p:spPr>
          <a:xfrm>
            <a:off x="558793" y="4071937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B2B Beta Partners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04CACF-FCBD-4078-BC87-577AD80C9012}"/>
              </a:ext>
            </a:extLst>
          </p:cNvPr>
          <p:cNvSpPr txBox="1"/>
          <p:nvPr/>
        </p:nvSpPr>
        <p:spPr>
          <a:xfrm>
            <a:off x="558793" y="4310062"/>
            <a:ext cx="355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Tech startups &amp; recruiting consultants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B6A47B-904D-445B-8086-CBF807F096DC}"/>
              </a:ext>
            </a:extLst>
          </p:cNvPr>
          <p:cNvSpPr txBox="1"/>
          <p:nvPr/>
        </p:nvSpPr>
        <p:spPr>
          <a:xfrm>
            <a:off x="4318043" y="3348037"/>
            <a:ext cx="3556062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2563EB"/>
                </a:solidFill>
                <a:latin typeface="Inter"/>
              </a:rPr>
              <a:t>25+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3BBAC9-B62E-4B31-A5C7-78A57B1C92F6}"/>
              </a:ext>
            </a:extLst>
          </p:cNvPr>
          <p:cNvSpPr txBox="1"/>
          <p:nvPr/>
        </p:nvSpPr>
        <p:spPr>
          <a:xfrm>
            <a:off x="4318043" y="4071937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AI Interviews Benchmarked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2E82F7C-12D9-42AF-BED1-37BE31E3FD87}"/>
              </a:ext>
            </a:extLst>
          </p:cNvPr>
          <p:cNvSpPr txBox="1"/>
          <p:nvPr/>
        </p:nvSpPr>
        <p:spPr>
          <a:xfrm>
            <a:off x="4318043" y="4310062"/>
            <a:ext cx="355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Tested against standard HR rubrics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E9D9B1D-6449-4B90-A8F3-D0F8EACBF4A5}"/>
              </a:ext>
            </a:extLst>
          </p:cNvPr>
          <p:cNvSpPr txBox="1"/>
          <p:nvPr/>
        </p:nvSpPr>
        <p:spPr>
          <a:xfrm>
            <a:off x="8077293" y="3348037"/>
            <a:ext cx="3556062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2563EB"/>
                </a:solidFill>
                <a:latin typeface="Inter"/>
              </a:rPr>
              <a:t>Node.js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3EF8AE-BA92-4957-B63E-EF374EFDA268}"/>
              </a:ext>
            </a:extLst>
          </p:cNvPr>
          <p:cNvSpPr txBox="1"/>
          <p:nvPr/>
        </p:nvSpPr>
        <p:spPr>
          <a:xfrm>
            <a:off x="8077293" y="4071937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Inter"/>
              </a:rPr>
              <a:t>High-Concurrency Stack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ADDE1B0-2325-4B50-981B-6FF37BB7F701}"/>
              </a:ext>
            </a:extLst>
          </p:cNvPr>
          <p:cNvSpPr txBox="1"/>
          <p:nvPr/>
        </p:nvSpPr>
        <p:spPr>
          <a:xfrm>
            <a:off x="8077293" y="4310062"/>
            <a:ext cx="35560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Operational API backend pipelines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6000" r="-10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303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Aptos"/>
              </a:rPr>
              <a:t>THE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6384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Aptos"/>
              </a:rPr>
              <a:t>Build the evidence infrastructure
behind every hiring decision.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8" r="8"/>
          <a:stretch>
            <a:fillRect/>
          </a:stretch>
        </p:blipFill>
        <p:spPr>
          <a:xfrm>
            <a:off x="621792" y="2084831"/>
            <a:ext cx="2057400" cy="24323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" y="4315968"/>
            <a:ext cx="2057400" cy="6583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471416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6D3C5"/>
                </a:solidFill>
                <a:latin typeface="Aptos"/>
              </a:rPr>
              <a:t>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50354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 err="1">
                <a:solidFill>
                  <a:srgbClr val="FFFFFF"/>
                </a:solidFill>
                <a:latin typeface="Aptos"/>
              </a:rPr>
              <a:t>Aadil</a:t>
            </a:r>
            <a:r>
              <a:rPr lang="en-US" sz="1200" b="1" i="0" dirty="0">
                <a:solidFill>
                  <a:srgbClr val="FFFFFF"/>
                </a:solidFill>
                <a:latin typeface="Aptos"/>
              </a:rPr>
              <a:t> Hussain</a:t>
            </a:r>
            <a:endParaRPr sz="12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193792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CB4B1"/>
                </a:solidFill>
                <a:latin typeface="Aptos"/>
              </a:rPr>
              <a:t>Raipur,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2267712"/>
            <a:ext cx="2532888" cy="80467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46704" y="2395728"/>
            <a:ext cx="220370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RAISING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615184"/>
            <a:ext cx="22037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2B38"/>
                </a:solidFill>
                <a:latin typeface="Aptos"/>
              </a:rPr>
              <a:t>₹ </a:t>
            </a:r>
            <a:r>
              <a:rPr lang="en-US" sz="1400" b="1">
                <a:solidFill>
                  <a:srgbClr val="142B38"/>
                </a:solidFill>
                <a:latin typeface="Aptos"/>
              </a:rPr>
              <a:t>34,00,000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25312" y="2267712"/>
            <a:ext cx="2532888" cy="80467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9904" y="2395728"/>
            <a:ext cx="220370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RUNWAY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2615184"/>
            <a:ext cx="22037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18 months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68512" y="2267712"/>
            <a:ext cx="2532888" cy="804672"/>
          </a:xfrm>
          <a:prstGeom prst="roundRect">
            <a:avLst/>
          </a:prstGeom>
          <a:solidFill>
            <a:srgbClr val="FFF4DD"/>
          </a:solidFill>
          <a:ln>
            <a:solidFill>
              <a:srgbClr val="E7C7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33104" y="2395728"/>
            <a:ext cx="220370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93671C"/>
                </a:solidFill>
                <a:latin typeface="Aptos"/>
              </a:rPr>
              <a:t>TARGET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615184"/>
            <a:ext cx="220370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dirty="0">
                <a:solidFill>
                  <a:srgbClr val="142B38"/>
                </a:solidFill>
                <a:latin typeface="Aptos"/>
              </a:rPr>
              <a:t>Q4 2026</a:t>
            </a:r>
            <a:endParaRPr sz="1400" b="1" i="0" dirty="0">
              <a:solidFill>
                <a:srgbClr val="142B38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182112" y="3429000"/>
            <a:ext cx="2532888" cy="15727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4992" y="36576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6D3C5"/>
                </a:solidFill>
                <a:latin typeface="Aptos"/>
              </a:rPr>
              <a:t>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4050791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437083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FD3D0"/>
                </a:solidFill>
                <a:latin typeface="Aptos"/>
              </a:rPr>
              <a:t>Saved runs, integrations, quality measurement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312" y="3429000"/>
            <a:ext cx="2532888" cy="15727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8192" y="36576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6D3C5"/>
                </a:solidFill>
                <a:latin typeface="Aptos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4050791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GO-TO-MARKET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437083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FD3D0"/>
                </a:solidFill>
                <a:latin typeface="Aptos"/>
              </a:rPr>
              <a:t>Design partners, founder-led sales, case studies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68512" y="3429000"/>
            <a:ext cx="2532888" cy="1572768"/>
          </a:xfrm>
          <a:prstGeom prst="roundRect">
            <a:avLst/>
          </a:prstGeom>
          <a:solidFill>
            <a:srgbClr val="1D3945"/>
          </a:solidFill>
          <a:ln>
            <a:solidFill>
              <a:srgbClr val="3655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51392" y="36576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76D3C5"/>
                </a:solidFill>
                <a:latin typeface="Aptos"/>
              </a:rPr>
              <a:t>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4050791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TRUST &amp;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4370832"/>
            <a:ext cx="2057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FD3D0"/>
                </a:solidFill>
                <a:latin typeface="Aptos"/>
              </a:rPr>
              <a:t>Security, privacy, reliability and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2112" y="5559552"/>
            <a:ext cx="6583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Let’s make every shortlist explainable.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76D3C5"/>
                </a:solidFill>
                <a:latin typeface="Aptos"/>
              </a:rPr>
              <a:t>hello@recruitai.com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78918E"/>
                </a:solidFill>
                <a:latin typeface="Aptos"/>
              </a:rPr>
              <a:t>RECRUIT AI  /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78918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961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Agency FB</vt:lpstr>
      <vt:lpstr>Aptos</vt:lpstr>
      <vt:lpstr>Arial</vt:lpstr>
      <vt:lpstr>Calibri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 AI — VC Pitch Deck</dc:title>
  <dc:subject>Evidence-led hiring infrastructure for recruitment teams</dc:subject>
  <dc:creator>Recruit AI</dc:creator>
  <cp:keywords/>
  <dc:description>Investor placeholders are intentionally marked REPLACE BEFORE SENDING.</dc:description>
  <cp:lastModifiedBy>Asus</cp:lastModifiedBy>
  <cp:revision>3</cp:revision>
  <dcterms:created xsi:type="dcterms:W3CDTF">2013-01-27T09:14:16Z</dcterms:created>
  <dcterms:modified xsi:type="dcterms:W3CDTF">2026-09-25T07:22:55Z</dcterms:modified>
  <cp:category/>
</cp:coreProperties>
</file>