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 contrast="13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cruit-a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484632" cy="484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7008" y="6126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RECRUIT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417320" cy="31089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21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9562" y="1516958"/>
            <a:ext cx="127101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chemeClr val="bg1"/>
                </a:solidFill>
                <a:latin typeface="Aptos"/>
              </a:rPr>
              <a:t>SEED DECK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27248"/>
            <a:ext cx="7498079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Aptos"/>
              </a:rPr>
              <a:t>The evidence layer
</a:t>
            </a:r>
            <a:r>
              <a:rPr sz="3400" b="1" i="0" dirty="0">
                <a:solidFill>
                  <a:schemeClr val="bg1"/>
                </a:solidFill>
                <a:latin typeface="Aptos"/>
              </a:rPr>
              <a:t>for</a:t>
            </a:r>
            <a:r>
              <a:rPr sz="3400" b="1" i="0" dirty="0">
                <a:solidFill>
                  <a:srgbClr val="78D4C6"/>
                </a:solidFill>
                <a:latin typeface="Aptos"/>
              </a:rPr>
              <a:t> </a:t>
            </a:r>
            <a:r>
              <a:rPr sz="3400" b="1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/>
              </a:rPr>
              <a:t>modern hiring</a:t>
            </a:r>
            <a:r>
              <a:rPr sz="3400" b="1" i="0" dirty="0">
                <a:solidFill>
                  <a:srgbClr val="78D4C6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70832"/>
            <a:ext cx="66751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7D8D6"/>
                </a:solidFill>
                <a:latin typeface="Aptos"/>
              </a:rPr>
              <a:t>Turn a job description and resume stack into a reviewable shortlist — with the evidence behind every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944368"/>
            <a:ext cx="2971800" cy="260604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3273552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chemeClr val="bg1"/>
                </a:solidFill>
                <a:latin typeface="Aptos"/>
              </a:rPr>
              <a:t>THE WEDGE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730752"/>
            <a:ext cx="594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JD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2056" y="3730752"/>
            <a:ext cx="320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chemeClr val="bg1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373075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4279392"/>
            <a:ext cx="2331720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0" y="4553712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Aptos"/>
              </a:rPr>
              <a:t>A shared rubric. Inspectable quotes. Human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2636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FA7A4"/>
                </a:solidFill>
                <a:latin typeface="Aptos"/>
              </a:rPr>
              <a:t>Raipur, India  •  hello@recruitai.com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Hiring teams don’t need more profiles.
They need decisions they can defend.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Agency FB" panose="020B0503020202020204" pitchFamily="34" charset="0"/>
              </a:rPr>
              <a:t>The workflow breaks between the job brief, the resume stack and the final shortlist.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2664" y="2317251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39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2B38"/>
                </a:solidFill>
                <a:latin typeface="Agency FB" panose="020B0503020202020204" pitchFamily="34" charset="0"/>
              </a:rPr>
              <a:t>Requirements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38728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07380"/>
                </a:solidFill>
                <a:latin typeface="Agency FB" panose="020B0503020202020204" pitchFamily="34" charset="0"/>
              </a:rPr>
              <a:t>Recruiters and clients interpret the same JD differently. Every reviewer creates a new, invisible rubric.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9512" y="2317251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53712" y="2624328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063239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2B38"/>
                </a:solidFill>
                <a:latin typeface="Agency FB" panose="020B0503020202020204" pitchFamily="34" charset="0"/>
              </a:rPr>
              <a:t>Evidence gets buried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538728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07380"/>
                </a:solidFill>
                <a:latin typeface="Agency FB" panose="020B0503020202020204" pitchFamily="34" charset="0"/>
              </a:rPr>
              <a:t>Keywords flatten context. The proof of delivery, scope and outcomes remains scattered across resumes and interviews.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2321243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4464" y="2624328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063239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2B38"/>
                </a:solidFill>
                <a:latin typeface="Agency FB" panose="020B0503020202020204" pitchFamily="34" charset="0"/>
              </a:rPr>
              <a:t>Decisions lose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538728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07380"/>
                </a:solidFill>
                <a:latin typeface="Agency FB" panose="020B0503020202020204" pitchFamily="34" charset="0"/>
              </a:rPr>
              <a:t>Shortlists move through spreadsheets and chat. Gaps, rationale and client feedback disappear between stages.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806440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Result: slow review</a:t>
            </a:r>
            <a:r>
              <a:rPr sz="1600" b="1" i="0" dirty="0">
                <a:solidFill>
                  <a:srgbClr val="142B38"/>
                </a:solidFill>
                <a:latin typeface="Agency FB" panose="020B0503020202020204" pitchFamily="34" charset="0"/>
              </a:rPr>
              <a:t>, </a:t>
            </a:r>
            <a:r>
              <a:rPr sz="16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inconsistent shortlists and avoidable candidate waiting.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RECRUIT AI  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8AA09E"/>
                </a:solidFill>
                <a:latin typeface="Agency FB" panose="020B0503020202020204" pitchFamily="34" charset="0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chemeClr val="bg1"/>
                </a:solidFill>
                <a:latin typeface="Aptos"/>
              </a:rPr>
              <a:t>One role. One rubric. Every candidate in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Recruit AI converts </a:t>
            </a:r>
            <a:r>
              <a:rPr sz="1300" b="0" i="0" dirty="0">
                <a:solidFill>
                  <a:schemeClr val="bg1"/>
                </a:solidFill>
                <a:latin typeface="Aptos"/>
              </a:rPr>
              <a:t>role requirements into an evidence-led workflow that recruiters can inspect and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2487168" cy="1874519"/>
          </a:xfrm>
          <a:prstGeom prst="roundRect">
            <a:avLst/>
          </a:prstGeom>
          <a:noFill/>
          <a:ln w="31750"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5528" y="2542032"/>
            <a:ext cx="475488" cy="310896"/>
          </a:xfrm>
          <a:prstGeom prst="roundRect">
            <a:avLst/>
          </a:prstGeom>
          <a:noFill/>
          <a:ln w="25400"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610612"/>
            <a:ext cx="32918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chemeClr val="bg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017520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401568"/>
            <a:ext cx="2011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A saved job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304495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chemeClr val="bg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2331720"/>
            <a:ext cx="2487168" cy="1874519"/>
          </a:xfrm>
          <a:prstGeom prst="roundRect">
            <a:avLst/>
          </a:prstGeom>
          <a:noFill/>
          <a:ln w="31750"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84448" y="2542032"/>
            <a:ext cx="475488" cy="310896"/>
          </a:xfrm>
          <a:prstGeom prst="roundRect">
            <a:avLst/>
          </a:prstGeom>
          <a:noFill/>
          <a:ln w="25400"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610612"/>
            <a:ext cx="32918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chemeClr val="bg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017520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401568"/>
            <a:ext cx="2011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A resume batch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6" y="304495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chemeClr val="bg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331720"/>
            <a:ext cx="2487168" cy="1874519"/>
          </a:xfrm>
          <a:prstGeom prst="roundRect">
            <a:avLst/>
          </a:prstGeom>
          <a:noFill/>
          <a:ln w="31750"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73368" y="2542032"/>
            <a:ext cx="475488" cy="310896"/>
          </a:xfrm>
          <a:prstGeom prst="roundRect">
            <a:avLst/>
          </a:prstGeom>
          <a:noFill/>
          <a:ln w="25400"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2610612"/>
            <a:ext cx="32918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chemeClr val="bg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017520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01568"/>
            <a:ext cx="2011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Evidence and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304495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chemeClr val="bg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331720"/>
            <a:ext cx="2487168" cy="1874519"/>
          </a:xfrm>
          <a:prstGeom prst="roundRect">
            <a:avLst/>
          </a:prstGeom>
          <a:noFill/>
          <a:ln w="31750"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62288" y="2542032"/>
            <a:ext cx="475488" cy="310896"/>
          </a:xfrm>
          <a:prstGeom prst="roundRect">
            <a:avLst/>
          </a:prstGeom>
          <a:noFill/>
          <a:ln w="25400"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35440" y="2610612"/>
            <a:ext cx="32918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chemeClr val="bg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017520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3401568"/>
            <a:ext cx="2011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Aptos"/>
              </a:rPr>
              <a:t>Human shortlist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617720"/>
            <a:ext cx="10972800" cy="1051560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4882896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Aptos"/>
              </a:rPr>
              <a:t>The product does not predict who gets hired.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864608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Aptos"/>
              </a:rPr>
              <a:t>It makes the evidence, uncertainty and recruiter decision visible in one place.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chemeClr val="bg1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chemeClr val="bg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9965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chemeClr val="bg1"/>
                </a:solidFill>
                <a:latin typeface="Aptos"/>
              </a:rPr>
              <a:t>From resume stack to evidence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09003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  <a:latin typeface="Aptos"/>
              </a:rPr>
              <a:t>A working product flow: select a saved JD, upload resumes, parse, inspect and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85093"/>
            <a:ext cx="4114800" cy="13838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04010" y="2170722"/>
            <a:ext cx="339810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latin typeface="Aptos"/>
              </a:rPr>
              <a:t>SHARED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4009" y="2449984"/>
            <a:ext cx="336103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latin typeface="Aptos"/>
              </a:rPr>
              <a:t>The same requirements across the 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430412"/>
            <a:ext cx="4114800" cy="138389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4104010" y="3681773"/>
            <a:ext cx="339810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latin typeface="Aptos"/>
              </a:rPr>
              <a:t>VERIFIED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4010" y="3979472"/>
            <a:ext cx="336103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latin typeface="Aptos"/>
              </a:rPr>
              <a:t>Resume quotes beside every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974353"/>
            <a:ext cx="4114800" cy="138389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4066939" y="5241197"/>
            <a:ext cx="339810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Aptos"/>
              </a:rPr>
              <a:t>RECRUITER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6939" y="5584277"/>
            <a:ext cx="336103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Aptos"/>
              </a:rPr>
              <a:t>Shortlist and export stay human-led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RECRUIT AI  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" contrast="2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AI made generation abundant.
Trustworthy evidence is still scarce.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latin typeface="Aptos"/>
              </a:rPr>
              <a:t>Recruiting software can generate copy, questions and scores. The enduring value is the reviewable chain from requirement to evidence to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743200"/>
            <a:ext cx="3474720" cy="21945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99923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520440"/>
            <a:ext cx="2788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latin typeface="Aptos"/>
              </a:rPr>
              <a:t>AI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041648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latin typeface="Aptos"/>
              </a:rPr>
              <a:t>Automation is entering every recruiting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474720" cy="219456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299923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520440"/>
            <a:ext cx="2788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chemeClr val="bg1"/>
                </a:solidFill>
                <a:latin typeface="Aptos"/>
              </a:rPr>
              <a:t>Buyer scrutiny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4041648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Aptos"/>
              </a:rPr>
              <a:t>Teams need explainable outputs and accountable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743200"/>
            <a:ext cx="3474720" cy="219456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99923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20440"/>
            <a:ext cx="2788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chemeClr val="bg1"/>
                </a:solidFill>
                <a:latin typeface="Aptos"/>
              </a:rPr>
              <a:t>Fragmented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41648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Aptos"/>
              </a:rPr>
              <a:t>Screening, interviews and decisions still live in separate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30952"/>
            <a:ext cx="1280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chemeClr val="bg1"/>
                </a:solidFill>
                <a:latin typeface="Aptos"/>
              </a:rPr>
              <a:t>Our 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5330952"/>
            <a:ext cx="91440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chemeClr val="bg1"/>
                </a:solidFill>
                <a:latin typeface="Aptos"/>
              </a:rPr>
              <a:t>The evidence graph becomes the system of record for hiring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RECRUIT AI  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dirty="0"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9965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MARKET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chemeClr val="bg1"/>
                </a:solidFill>
                <a:latin typeface="Aptos"/>
              </a:rPr>
              <a:t>Start where pain is frequent and proof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  <a:latin typeface="Aptos"/>
              </a:rPr>
              <a:t>Recommended ICP: Indian technical recruitment agencies managing multiple client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246120" cy="333756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578608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chemeClr val="bg1"/>
                </a:solidFill>
                <a:latin typeface="Aptos"/>
              </a:rPr>
              <a:t>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054096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Bulk resume
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114800"/>
            <a:ext cx="248716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  <a:latin typeface="Aptos"/>
              </a:rPr>
              <a:t>Clear trigger, measurable output, fast path to a client-ready shortlist.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5093208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6D3C5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2267712"/>
            <a:ext cx="22219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25511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6827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007" y="307238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INTERVIEWS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803904"/>
            <a:ext cx="17830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7380"/>
                </a:solidFill>
                <a:latin typeface="Aptos"/>
              </a:rPr>
              <a:t>Close evidence gaps with role-specific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9451" y="3621024"/>
            <a:ext cx="2468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chemeClr val="bg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5730" y="2267712"/>
            <a:ext cx="22219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0568" y="25511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68276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07238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DECISION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3803904"/>
            <a:ext cx="17830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7380"/>
                </a:solidFill>
                <a:latin typeface="Aptos"/>
              </a:rPr>
              <a:t>Compare candidates and preserve human rationale.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0778" y="3621024"/>
            <a:ext cx="2468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chemeClr val="bg1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7822" y="2267712"/>
            <a:ext cx="222199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8" y="25511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6827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7238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TALENT REDISCOVERY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803904"/>
            <a:ext cx="17830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7380"/>
                </a:solidFill>
                <a:latin typeface="Aptos"/>
              </a:rPr>
              <a:t>Use approved role knowledge across future searches.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52" y="6016752"/>
            <a:ext cx="10241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chemeClr val="bg1"/>
                </a:solidFill>
                <a:latin typeface="Aptos"/>
              </a:rPr>
              <a:t>Retention loop: new role → shortlist → client decision → approved role knowledge → faster next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rgbClr val="8AA09E"/>
                </a:solidFill>
                <a:latin typeface="Aptos"/>
              </a:rPr>
              <a:t>RECRUIT AI  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16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42B38"/>
                </a:solidFill>
                <a:latin typeface="Aptos"/>
              </a:rPr>
              <a:t>A focused bottom-up market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Aptos"/>
              </a:rPr>
              <a:t>Use verified customer counts and contract values before sending. This slide is structured for diligence, without fabricated TAM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3310128" cy="7498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2459736"/>
            <a:ext cx="298094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TARGET AGENCIES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79191"/>
            <a:ext cx="29809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15,000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3657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latin typeface="Aptos"/>
              </a:rP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2331720"/>
            <a:ext cx="3310128" cy="7498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2459736"/>
            <a:ext cx="298094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ANNUAL CONTRACT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2679191"/>
            <a:ext cx="29809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42B38"/>
                </a:solidFill>
                <a:latin typeface="Aptos"/>
              </a:rPr>
              <a:t>₹ </a:t>
            </a:r>
            <a:r>
              <a:rPr lang="en-US" sz="1400" b="1" i="0" dirty="0">
                <a:solidFill>
                  <a:srgbClr val="142B38"/>
                </a:solidFill>
                <a:latin typeface="Aptos"/>
              </a:rPr>
              <a:t>2,40,000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2542032"/>
            <a:ext cx="3657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latin typeface="Aptos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13064" y="2331720"/>
            <a:ext cx="3063240" cy="7498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77656" y="2459736"/>
            <a:ext cx="273405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INITIAL SERVICEABLE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6" y="2679191"/>
            <a:ext cx="2734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42B38"/>
                </a:solidFill>
                <a:latin typeface="Aptos"/>
              </a:rPr>
              <a:t>₹ </a:t>
            </a:r>
            <a:r>
              <a:rPr lang="en-US" sz="1400" b="1" i="0" dirty="0">
                <a:solidFill>
                  <a:srgbClr val="142B38"/>
                </a:solidFill>
                <a:latin typeface="Aptos"/>
              </a:rPr>
              <a:t>360 – 400 CR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474720"/>
            <a:ext cx="10972800" cy="0"/>
          </a:xfrm>
          <a:prstGeom prst="line">
            <a:avLst/>
          </a:prstGeom>
          <a:ln w="15240">
            <a:solidFill>
              <a:srgbClr val="D9E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867912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BEACHHEAD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61104"/>
            <a:ext cx="3063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Indian technical recruitment agencies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7375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bg1"/>
                </a:solidFill>
                <a:latin typeface="Aptos"/>
              </a:rPr>
              <a:t>Multi-client roles • repeat screening • client 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867912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4261104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In-house recruiting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873752"/>
            <a:ext cx="3063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bg1"/>
                </a:solidFill>
                <a:latin typeface="Aptos"/>
              </a:rPr>
              <a:t>Structured screening and interview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3867912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61104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Hiring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873752"/>
            <a:ext cx="3063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bg1"/>
                </a:solidFill>
                <a:latin typeface="Aptos"/>
              </a:rPr>
              <a:t>ATS handoff • rediscovery • outcome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8AA09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42B38"/>
                </a:solidFill>
                <a:latin typeface="Aptos"/>
              </a:rPr>
              <a:t>Win on reviewability, not feature 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Aptos"/>
              </a:rPr>
              <a:t>Established platforms cover broad ATS, CRM and analytics categories. Recruit AI begins with an evidence-first decision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12848"/>
            <a:ext cx="269748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2368296"/>
            <a:ext cx="2551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0" y="2212848"/>
            <a:ext cx="1965960" cy="502920"/>
          </a:xfrm>
          <a:prstGeom prst="rect">
            <a:avLst/>
          </a:prstGeom>
          <a:solidFill>
            <a:srgbClr val="142B38"/>
          </a:solidFill>
          <a:ln>
            <a:solidFill>
              <a:srgbClr val="14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6499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ptos"/>
              </a:rPr>
              <a:t>Recruit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2212848"/>
            <a:ext cx="196596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095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2B38"/>
                </a:solidFill>
                <a:latin typeface="Aptos"/>
              </a:rPr>
              <a:t>ATS suites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212848"/>
            <a:ext cx="196596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691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2B38"/>
                </a:solidFill>
                <a:latin typeface="Aptos"/>
              </a:rPr>
              <a:t>Sourcing platforms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2212848"/>
            <a:ext cx="196596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6287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2B38"/>
                </a:solidFill>
                <a:latin typeface="Aptos"/>
              </a:rPr>
              <a:t>Manual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61488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916936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JD → shared evidence rubric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761488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761488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761488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19" y="2761488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19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319272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474720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Inspectable resume quotes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319272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3319272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57800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319272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0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19" y="3319272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9719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877056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403250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Candidate comparison by evidence gaps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877056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0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3877056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57800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3877056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0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9719" y="3877056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89719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434840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459028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Human decision trail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4434840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0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4434840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57800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4434840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23760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19" y="4434840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89719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992624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9808" y="514807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Broad ATS / CRM coverage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4992624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91840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992624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4992624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223760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19" y="4992624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89719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5742432"/>
            <a:ext cx="56692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07380"/>
                </a:solidFill>
                <a:latin typeface="Aptos"/>
              </a:rPr>
              <a:t>● core strength   ◐ available / varies   ○ not the core workflow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4808" y="5742432"/>
            <a:ext cx="5074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 dirty="0">
                <a:solidFill>
                  <a:schemeClr val="bg1"/>
                </a:solidFill>
                <a:latin typeface="Aptos"/>
              </a:rPr>
              <a:t>Qualitative founder view — validate through customer interviews and competitive demos</a:t>
            </a:r>
            <a:r>
              <a:rPr sz="900" b="0" i="1" dirty="0">
                <a:solidFill>
                  <a:srgbClr val="607380"/>
                </a:solidFill>
                <a:latin typeface="Aptos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8AA09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42B38"/>
                </a:solidFill>
                <a:latin typeface="Aptos"/>
              </a:rPr>
              <a:t>Land with a role. Expand with the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84866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Aptos"/>
              </a:rPr>
              <a:t>A software-led model with clearly bounded usage, priced against recruiter time and provider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328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6827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42B38"/>
                </a:solidFill>
                <a:latin typeface="Aptos"/>
              </a:rPr>
              <a:t>Single-role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47287"/>
            <a:ext cx="29718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7380"/>
                </a:solidFill>
                <a:latin typeface="Aptos"/>
              </a:rPr>
              <a:t>Paid, bounded engagement to prove the workflow on a live role and establish a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3317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25328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6827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97180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42B38"/>
                </a:solidFill>
                <a:latin typeface="Aptos"/>
              </a:rPr>
              <a:t>Team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447287"/>
            <a:ext cx="29718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7380"/>
                </a:solidFill>
                <a:latin typeface="Aptos"/>
              </a:rPr>
              <a:t>Workspace, saved roles, screening, interviews, decision workflows and usage entitlements.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3317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25328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6827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97180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42B38"/>
                </a:solidFill>
                <a:latin typeface="Aptos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447287"/>
            <a:ext cx="29718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7380"/>
                </a:solidFill>
                <a:latin typeface="Aptos"/>
              </a:rPr>
              <a:t>Seats, active roles, candidate volume and selected integrations grow with customer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64608"/>
            <a:ext cx="2560320" cy="731520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4992624"/>
            <a:ext cx="223113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PILOT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212080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42B38"/>
                </a:solidFill>
                <a:latin typeface="Aptos"/>
              </a:rPr>
              <a:t>₹ </a:t>
            </a:r>
            <a:r>
              <a:rPr lang="en-US" sz="1400" b="1" i="0" dirty="0">
                <a:solidFill>
                  <a:srgbClr val="142B38"/>
                </a:solidFill>
                <a:latin typeface="Aptos"/>
              </a:rPr>
              <a:t>25000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64992" y="4864608"/>
            <a:ext cx="2560320" cy="731520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9584" y="4992624"/>
            <a:ext cx="223113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TEAM ACV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5212080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42B38"/>
                </a:solidFill>
                <a:latin typeface="Aptos"/>
              </a:rPr>
              <a:t>₹ </a:t>
            </a:r>
            <a:r>
              <a:rPr lang="en-US" sz="1400" b="1" i="0" dirty="0">
                <a:solidFill>
                  <a:srgbClr val="142B38"/>
                </a:solidFill>
                <a:latin typeface="Aptos"/>
              </a:rPr>
              <a:t>2,30,000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35624" y="4864608"/>
            <a:ext cx="2560320" cy="731520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0216" y="4992624"/>
            <a:ext cx="223113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GROSS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5212080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75% - 85%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906256" y="4864608"/>
            <a:ext cx="2670048" cy="731520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70848" y="4992624"/>
            <a:ext cx="234086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PAYBACK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5212080"/>
            <a:ext cx="23408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&lt;3 months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8AA09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latin typeface="Aptos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latin typeface="Aptos"/>
              </a:rPr>
              <a:t>Founder-led, workflow-specific and proof-driven.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latin typeface="Aptos"/>
              </a:rPr>
              <a:t>The first sale is a measured pilot. The expansion motion begins after a client-ready shortlist is delivered.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249424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3111" y="2318004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86000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DESIGN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231136"/>
            <a:ext cx="2880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Technical recruitment agencies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231136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5 customer interviews → 2–3 live pilots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615184"/>
            <a:ext cx="0" cy="475488"/>
          </a:xfrm>
          <a:prstGeom prst="line">
            <a:avLst/>
          </a:prstGeom>
          <a:ln w="19050">
            <a:solidFill>
              <a:srgbClr val="B9C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3504" y="3191256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9027" y="3273884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27832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PROVE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172968"/>
            <a:ext cx="2880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One real role and resume 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172968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Measure review time, acceptance and provider cost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557016"/>
            <a:ext cx="0" cy="475488"/>
          </a:xfrm>
          <a:prstGeom prst="line">
            <a:avLst/>
          </a:prstGeom>
          <a:ln w="19050">
            <a:solidFill>
              <a:srgbClr val="B9C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3504" y="4133087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9027" y="4201668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169663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LAND &amp; 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4114800"/>
            <a:ext cx="2880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Convert pilot into team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114800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Add repeat roles, seats and client decision workflow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498848"/>
            <a:ext cx="0" cy="475488"/>
          </a:xfrm>
          <a:prstGeom prst="line">
            <a:avLst/>
          </a:prstGeom>
          <a:ln w="19050">
            <a:solidFill>
              <a:srgbClr val="B9C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" y="5074920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096" y="5143500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111496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DISTRIBUTE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5056632"/>
            <a:ext cx="2880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Agency referrals + focused 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056632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Add first ATS handoff only after demand is clear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6053328"/>
            <a:ext cx="10972800" cy="384048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" y="6153912"/>
            <a:ext cx="104698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latin typeface="Aptos"/>
              </a:rPr>
              <a:t>North-star activation: first reviewed shortlist from a live role — measured, not promised.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chemeClr val="bg1"/>
                </a:solidFill>
                <a:latin typeface="Aptos"/>
              </a:rPr>
              <a:t>RECRUIT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chemeClr val="bg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9965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42B38"/>
                </a:solidFill>
                <a:latin typeface="Aptos"/>
              </a:rPr>
              <a:t>The product exists. Now prove repeatable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chemeClr val="bg1"/>
                </a:solidFill>
                <a:latin typeface="Aptos"/>
              </a:rPr>
              <a:t>Current product capabilities are shown separately from investor metrics that still need founder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68276"/>
                </a:solidFill>
                <a:latin typeface="Aptos"/>
              </a:rPr>
              <a:t>PRODUCT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54096"/>
            <a:ext cx="256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8276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3035808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Saved job → bulk resume 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29584"/>
            <a:ext cx="256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8276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511296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Evidence quotes and coverage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05072"/>
            <a:ext cx="256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8276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986783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Structured interview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480560"/>
            <a:ext cx="256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8276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462272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Decision Room comparison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56048"/>
            <a:ext cx="256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827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937760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2B38"/>
                </a:solidFill>
                <a:latin typeface="Aptos"/>
              </a:rPr>
              <a:t>Workspace roles, vetting and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267712"/>
            <a:ext cx="5486400" cy="3520440"/>
          </a:xfrm>
          <a:prstGeom prst="roundRect">
            <a:avLst/>
          </a:prstGeom>
          <a:solidFill>
            <a:srgbClr val="142B38"/>
          </a:solidFill>
          <a:ln>
            <a:solidFill>
              <a:srgbClr val="14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256032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6D3C5"/>
                </a:solidFill>
                <a:latin typeface="Aptos"/>
              </a:rPr>
              <a:t>12-MONTH PROOF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54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6D3C5"/>
                </a:solidFill>
                <a:latin typeface="Aptos"/>
              </a:rPr>
              <a:t>Q1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054096"/>
            <a:ext cx="397763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Design partners + instrumented pilots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3016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6D3C5"/>
                </a:solidFill>
                <a:latin typeface="Aptos"/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630168"/>
            <a:ext cx="397763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Pilot conversion + saved screening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206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6D3C5"/>
                </a:solidFill>
                <a:latin typeface="Aptos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206240"/>
            <a:ext cx="397763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Repeat-role retention + ATS handoff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78231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6D3C5"/>
                </a:solidFill>
                <a:latin typeface="Aptos"/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782312"/>
            <a:ext cx="397763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Outcome reporting + repeatable sales motion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5971032"/>
            <a:ext cx="3419856" cy="43891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6099048"/>
            <a:ext cx="3090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76" y="6185970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3 Design Partners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61688" y="5971032"/>
            <a:ext cx="3419856" cy="43891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79" y="6099048"/>
            <a:ext cx="3090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6181030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15+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38160" y="5971032"/>
            <a:ext cx="3419856" cy="43891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02752" y="6099048"/>
            <a:ext cx="3090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RETENTION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6181030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115-120%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8AA09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THE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Build the evidence infrastructure
behind every hiring decision.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8" r="8"/>
          <a:stretch>
            <a:fillRect/>
          </a:stretch>
        </p:blipFill>
        <p:spPr>
          <a:xfrm>
            <a:off x="621792" y="2084831"/>
            <a:ext cx="2057400" cy="24323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" y="4315968"/>
            <a:ext cx="2057400" cy="6583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471416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6D3C5"/>
                </a:solidFill>
                <a:latin typeface="Aptos"/>
              </a:rP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50354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 err="1">
                <a:solidFill>
                  <a:srgbClr val="FFFFFF"/>
                </a:solidFill>
                <a:latin typeface="Aptos"/>
              </a:rPr>
              <a:t>Aadil</a:t>
            </a:r>
            <a:r>
              <a:rPr lang="en-US" sz="1200" b="1" i="0" dirty="0">
                <a:solidFill>
                  <a:srgbClr val="FFFFFF"/>
                </a:solidFill>
                <a:latin typeface="Aptos"/>
              </a:rPr>
              <a:t> Hussain</a:t>
            </a:r>
            <a:endParaRPr sz="12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19379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B4B1"/>
                </a:solidFill>
                <a:latin typeface="Aptos"/>
              </a:rPr>
              <a:t>Raipur,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2267712"/>
            <a:ext cx="2532888" cy="80467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46704" y="2395728"/>
            <a:ext cx="220370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RAISING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615184"/>
            <a:ext cx="22037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42B38"/>
                </a:solidFill>
                <a:latin typeface="Aptos"/>
              </a:rPr>
              <a:t>₹ / $ </a:t>
            </a:r>
            <a:r>
              <a:rPr lang="en-US" sz="1400" b="1" dirty="0">
                <a:solidFill>
                  <a:srgbClr val="142B38"/>
                </a:solidFill>
                <a:latin typeface="Aptos"/>
              </a:rPr>
              <a:t>150,000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25312" y="2267712"/>
            <a:ext cx="2532888" cy="80467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9904" y="2395728"/>
            <a:ext cx="220370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RUNWAY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2615184"/>
            <a:ext cx="22037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18 months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68512" y="2267712"/>
            <a:ext cx="2532888" cy="80467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3104" y="2395728"/>
            <a:ext cx="220370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TARGET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615184"/>
            <a:ext cx="22037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Q4 2026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82112" y="3429000"/>
            <a:ext cx="2532888" cy="15727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4992" y="36576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6D3C5"/>
                </a:solidFill>
                <a:latin typeface="Aptos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4050791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437083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FD3D0"/>
                </a:solidFill>
                <a:latin typeface="Aptos"/>
              </a:rPr>
              <a:t>Saved runs, integrations, quality measurement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312" y="3429000"/>
            <a:ext cx="2532888" cy="15727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36576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6D3C5"/>
                </a:solidFill>
                <a:latin typeface="Aptos"/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4050791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GO-TO-MARKET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437083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FD3D0"/>
                </a:solidFill>
                <a:latin typeface="Aptos"/>
              </a:rPr>
              <a:t>Design partners, founder-led sales, case studies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68512" y="3429000"/>
            <a:ext cx="2532888" cy="15727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51392" y="36576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6D3C5"/>
                </a:solidFill>
                <a:latin typeface="Aptos"/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4050791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TRUST &amp;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437083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FD3D0"/>
                </a:solidFill>
                <a:latin typeface="Aptos"/>
              </a:rPr>
              <a:t>Security, privacy, reliability and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5559552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Let’s make every shortlist explainable.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6D3C5"/>
                </a:solidFill>
                <a:latin typeface="Aptos"/>
              </a:rPr>
              <a:t>hello@recruitai.com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8918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918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1077</Words>
  <Application>Microsoft Office PowerPoint</Application>
  <PresentationFormat>Widescreen</PresentationFormat>
  <Paragraphs>252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Agency FB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 AI — VC Pitch Deck</dc:title>
  <dc:subject>Evidence-led hiring infrastructure for recruitment teams</dc:subject>
  <dc:creator>Recruit AI</dc:creator>
  <cp:keywords/>
  <dc:description>Investor placeholders are intentionally marked REPLACE BEFORE SENDING.</dc:description>
  <cp:lastModifiedBy>Asus</cp:lastModifiedBy>
  <cp:revision>2</cp:revision>
  <dcterms:created xsi:type="dcterms:W3CDTF">2013-01-27T09:14:16Z</dcterms:created>
  <dcterms:modified xsi:type="dcterms:W3CDTF">2026-09-22T15:03:08Z</dcterms:modified>
  <cp:category/>
</cp:coreProperties>
</file>